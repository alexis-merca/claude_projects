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</p:sldIdLst>
  <p:sldSz cy="6858000" cx="12192000"/>
  <p:notesSz cx="6858000" cy="9144000"/>
  <p:embeddedFontLst>
    <p:embeddedFont>
      <p:font typeface="Inter Light"/>
      <p:regular r:id="rId8"/>
      <p:bold r:id="rId9"/>
      <p:italic r:id="rId10"/>
      <p:boldItalic r:id="rId11"/>
    </p:embeddedFont>
    <p:embeddedFont>
      <p:font typeface="Inter"/>
      <p:regular r:id="rId12"/>
      <p:bold r:id="rId13"/>
      <p:italic r:id="rId14"/>
      <p:boldItalic r:id="rId15"/>
    </p:embeddedFont>
    <p:embeddedFont>
      <p:font typeface="Tahoma"/>
      <p:regular r:id="rId16"/>
      <p:bold r:id="rId17"/>
    </p:embeddedFont>
    <p:embeddedFont>
      <p:font typeface="Work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nterLight-regular.fntdata"/><Relationship Id="rId9" Type="http://schemas.openxmlformats.org/officeDocument/2006/relationships/font" Target="fonts/InterLight-bold.fntdata"/><Relationship Id="rId10" Type="http://schemas.openxmlformats.org/officeDocument/2006/relationships/font" Target="fonts/InterLight-italic.fntdata"/><Relationship Id="rId11" Type="http://schemas.openxmlformats.org/officeDocument/2006/relationships/font" Target="fonts/InterLight-boldItalic.fntdata"/><Relationship Id="rId12" Type="http://schemas.openxmlformats.org/officeDocument/2006/relationships/font" Target="fonts/Inter-regular.fntdata"/><Relationship Id="rId13" Type="http://schemas.openxmlformats.org/officeDocument/2006/relationships/font" Target="fonts/Inter-bold.fntdata"/><Relationship Id="rId14" Type="http://schemas.openxmlformats.org/officeDocument/2006/relationships/font" Target="fonts/Inter-italic.fntdata"/><Relationship Id="rId15" Type="http://schemas.openxmlformats.org/officeDocument/2006/relationships/font" Target="fonts/Inter-boldItalic.fntdata"/><Relationship Id="rId16" Type="http://schemas.openxmlformats.org/officeDocument/2006/relationships/font" Target="fonts/Tahoma-regular.fntdata"/><Relationship Id="rId17" Type="http://schemas.openxmlformats.org/officeDocument/2006/relationships/font" Target="fonts/Tahoma-bold.fntdata"/><Relationship Id="rId18" Type="http://schemas.openxmlformats.org/officeDocument/2006/relationships/font" Target="fonts/WorkSans-regular.fntdata"/><Relationship Id="rId19" Type="http://schemas.openxmlformats.org/officeDocument/2006/relationships/font" Target="fonts/WorkSans-bold.fntdata"/><Relationship Id="rId20" Type="http://schemas.openxmlformats.org/officeDocument/2006/relationships/font" Target="fonts/WorkSans-italic.fntdata"/><Relationship Id="rId21" Type="http://schemas.openxmlformats.org/officeDocument/2006/relationships/font" Target="fonts/WorkSans-boldItalic.fntdata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 i="0">
                <a:solidFill>
                  <a:srgbClr val="1B1B3A"/>
                </a:solidFill>
                <a:latin typeface="Inter"/>
              </a:rPr>
              <a:t>Nombre de compétences par famille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Compétences</c:v>
                </c:pt>
              </c:strCache>
            </c:strRef>
          </c:tx>
          <c:spPr>
            <a:solidFill>
              <a:srgbClr val="6733FC"/>
            </a:solidFill>
          </c:spPr>
          <c:cat>
            <c:strRef>
              <c:f>Sheet1!$A$2:$A$10</c:f>
              <c:strCache>
                <c:ptCount val="9"/>
                <c:pt idx="0">
                  <c:v>L · Logistique</c:v>
                </c:pt>
                <c:pt idx="1">
                  <c:v>RH · Ressources humaines</c:v>
                </c:pt>
                <c:pt idx="2">
                  <c:v>TM · Techniques de montage</c:v>
                </c:pt>
                <c:pt idx="3">
                  <c:v>TP · Techniques de polissage</c:v>
                </c:pt>
                <c:pt idx="4">
                  <c:v>M · Machines</c:v>
                </c:pt>
                <c:pt idx="5">
                  <c:v>P · Poste</c:v>
                </c:pt>
                <c:pt idx="6">
                  <c:v>TC · Techniques de contrôle</c:v>
                </c:pt>
                <c:pt idx="7">
                  <c:v>Mé · Métaux</c:v>
                </c:pt>
                <c:pt idx="8">
                  <c:v>Autres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</c:v>
                </c:pt>
                <c:pt idx="1">
                  <c:v>22</c:v>
                </c:pt>
                <c:pt idx="2">
                  <c:v>17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  <c:pt idx="6">
                  <c:v>7</c:v>
                </c:pt>
                <c:pt idx="7">
                  <c:v>6</c:v>
                </c:pt>
                <c:pt idx="8">
                  <c:v>7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900">
                  <a:solidFill>
                    <a:srgbClr val="1B1B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FC8EC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CE9F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B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50">
          <a:solidFill>
            <a:srgbClr val="1B1B3A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 i="0">
                <a:solidFill>
                  <a:srgbClr val="1B1B3A"/>
                </a:solidFill>
                <a:latin typeface="Inter"/>
              </a:rPr>
              <a:t>Activité sur la plateforme par mois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Compétences attribuées ou modifiées</c:v>
                </c:pt>
              </c:strCache>
            </c:strRef>
          </c:tx>
          <c:spPr>
            <a:solidFill>
              <a:srgbClr val="6733FC"/>
            </a:solidFill>
          </c:spPr>
          <c:cat>
            <c:strRef>
              <c:f>Sheet1!$A$2:$A$13</c:f>
              <c:strCache>
                <c:ptCount val="12"/>
                <c:pt idx="0">
                  <c:v>Nov. 25</c:v>
                </c:pt>
                <c:pt idx="1">
                  <c:v>Déc.</c:v>
                </c:pt>
                <c:pt idx="2">
                  <c:v>Janv. 26</c:v>
                </c:pt>
                <c:pt idx="3">
                  <c:v>Fév.</c:v>
                </c:pt>
                <c:pt idx="4">
                  <c:v>Mars</c:v>
                </c:pt>
                <c:pt idx="5">
                  <c:v>Avr.</c:v>
                </c:pt>
                <c:pt idx="6">
                  <c:v>Mai</c:v>
                </c:pt>
                <c:pt idx="7">
                  <c:v>Juin</c:v>
                </c:pt>
                <c:pt idx="8">
                  <c:v>Juil.</c:v>
                </c:pt>
                <c:pt idx="9">
                  <c:v>Août</c:v>
                </c:pt>
                <c:pt idx="10">
                  <c:v>Sept.</c:v>
                </c:pt>
                <c:pt idx="11">
                  <c:v>Oct.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653</c:v>
                </c:pt>
                <c:pt idx="1">
                  <c:v>377</c:v>
                </c:pt>
                <c:pt idx="2">
                  <c:v>194</c:v>
                </c:pt>
                <c:pt idx="3">
                  <c:v>55</c:v>
                </c:pt>
                <c:pt idx="4">
                  <c:v>8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3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Parcours de formation lancés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Sheet1!$A$2:$A$13</c:f>
              <c:strCache>
                <c:ptCount val="12"/>
                <c:pt idx="0">
                  <c:v>Nov. 25</c:v>
                </c:pt>
                <c:pt idx="1">
                  <c:v>Déc.</c:v>
                </c:pt>
                <c:pt idx="2">
                  <c:v>Janv. 26</c:v>
                </c:pt>
                <c:pt idx="3">
                  <c:v>Fév.</c:v>
                </c:pt>
                <c:pt idx="4">
                  <c:v>Mars</c:v>
                </c:pt>
                <c:pt idx="5">
                  <c:v>Avr.</c:v>
                </c:pt>
                <c:pt idx="6">
                  <c:v>Mai</c:v>
                </c:pt>
                <c:pt idx="7">
                  <c:v>Juin</c:v>
                </c:pt>
                <c:pt idx="8">
                  <c:v>Juil.</c:v>
                </c:pt>
                <c:pt idx="9">
                  <c:v>Août</c:v>
                </c:pt>
                <c:pt idx="10">
                  <c:v>Sept.</c:v>
                </c:pt>
                <c:pt idx="11">
                  <c:v>Oct.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90</c:v>
                </c:pt>
                <c:pt idx="1">
                  <c:v>11</c:v>
                </c:pt>
                <c:pt idx="2">
                  <c:v>40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900">
                  <a:solidFill>
                    <a:srgbClr val="1B1B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FC8EC"/>
            </a:solidFill>
          </a:ln>
        </c:spPr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CE9F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6B80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950">
          <a:solidFill>
            <a:srgbClr val="1B1B3A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73" y="0"/>
            <a:ext cx="1124700" cy="1125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:notes"/>
          <p:cNvSpPr txBox="1"/>
          <p:nvPr>
            <p:ph idx="12" type="sldNum"/>
          </p:nvPr>
        </p:nvSpPr>
        <p:spPr>
          <a:xfrm>
            <a:off x="0" y="0"/>
            <a:ext cx="15000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: rapport d'audit du 26/11/2025, enregistrements Claap (nov. 2024 à oct. 2026), données de la plateforme La-Chaux-De-Fonds (Metabase, extraction du 27/10/2026).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Effectifs : rapport d'audit (220 production, 150 maintenance/labo/logistique, ~20 équipes managées par 70 personnes). 231 fonctions et ~70 métiers : échanges RH nov. 2024 et fév. 2025. Démographie et horizon 5-10 ans : réunions de sept./oct. 2026. Peu de contraintes réglementaires hors RJC : direction des opérations, oct.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: rapport d'audit (process de gestion du savoir-faire et de formation au poste), atelier RACI du 29/10/2025, hebdos des 04/12 et 18/12/2025, 09/01/2026.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: rapport d'audit, réunions RH nov. 2024 - fév. 2025, atelier RACI du 29/10/2025, échange du 13/02/2026, réunion du 06/10/2026.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: plateforme Mercateam La-Chaux-De-Fonds (compétences, postes et sous-postes actifs). Logiques de découpage confirmées en réunions du 27/01/2026 et du 06/10/2026.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: Metabase, base de production, site La-Chaux-De-Fonds, extraction du 27/10/2026. Niveaux : 696 au niveau 1, 74 au niveau 2, 69 au niveau 3. 74 des 89 habilitations attribuées n'ont pas de date de fin. « Autres » : 4 compétences Mercateam (administration de l'outil), 2 transverses, 1 logistique.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: synthèse de maturité du rapport d'audit du 26/11/2025.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Périmètre : ~450 personnes envisagées au départ, puis 300, 100, ~30 au cadrage, 61 collaborateurs effectivement chargés sur la plateforme. Sources : Claap nov. 2024 - oct.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: Metabase. « Compétences attribuées ou modifiées » = créations d'affectations de compétences + dernières modifications datées dans le mois (une modification antérieure écrasée par une plus récente n'est pas comptée). Parcours : 125 actifs, 11 validés, 59 en retard, 12 en retard de validation, 37 non démarrés.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Verbatims issus des enregistrements Claap, légèrement raccourcis. Attribution de la citation du bilan du 29/01/2026 déduite par recoupement (transcription de salle).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: hebdos déc. 2025 - janv. 2026, bilan du pilote (29/01/2026), échange après la table ronde (13/02/2026), réunions des 23/09 et 06/10/2026.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Mercateam recommandait 80 à 100 personnes au minimum lors du cadrage (sept. 2025). Constat partagé lors de la réunion du 06/10/2026.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38" cy="6857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11460310" y="633329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0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9852100" y="4958225"/>
            <a:ext cx="2248800" cy="178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9852100" y="4958225"/>
            <a:ext cx="2248800" cy="178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p7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1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" name="Google Shape;50;p11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662132" y="367599"/>
            <a:ext cx="28677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1" i="0" sz="2900">
                <a:solidFill>
                  <a:srgbClr val="6733FC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084033" y="3057431"/>
            <a:ext cx="6024000" cy="23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778240" y="6377940"/>
            <a:ext cx="2804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 5">
  <p:cSld name="TITLE_5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 2">
  <p:cSld name="TITLE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71" name="Google Shape;71;p16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 4">
  <p:cSld name="TITLE_4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 7">
  <p:cSld name="TITLE_7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79" name="Google Shape;79;p1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 3">
  <p:cSld name="TITLE_3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83" name="Google Shape;83;p1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 1">
  <p:cSld name="TITLE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87" name="Google Shape;87;p20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 2 1">
  <p:cSld name="TITLE_2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11460310" y="6333297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 6">
  <p:cSld name="TITLE_6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93" name="Google Shape;93;p2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94" name="Google Shape;94;p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8">
  <p:cSld name="TITLE_8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97" name="Google Shape;97;p23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9">
  <p:cSld name="TITLE_9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01" name="Google Shape;101;p2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 2">
  <p:cSld name="TITLE_13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25"/>
          <p:cNvSpPr txBox="1"/>
          <p:nvPr>
            <p:ph idx="12" type="sldNum"/>
          </p:nvPr>
        </p:nvSpPr>
        <p:spPr>
          <a:xfrm>
            <a:off x="112966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1">
  <p:cSld name="TITLE_1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09" name="Google Shape;109;p26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10" name="Google Shape;110;p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 1">
  <p:cSld name="SECTION_HEADER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idx="12" type="sldNum"/>
          </p:nvPr>
        </p:nvSpPr>
        <p:spPr>
          <a:xfrm>
            <a:off x="11296610" y="6217622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200" lIns="150200" spcFirstLastPara="1" rIns="150200" wrap="square" tIns="1502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 2">
  <p:cSld name="SECTION_HEADER_2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idx="12" type="sldNum"/>
          </p:nvPr>
        </p:nvSpPr>
        <p:spPr>
          <a:xfrm>
            <a:off x="11296610" y="6217622"/>
            <a:ext cx="731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50200" lIns="150200" spcFirstLastPara="1" rIns="150200" wrap="square" tIns="1502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9852100" y="4958225"/>
            <a:ext cx="2248800" cy="178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20" name="Google Shape;12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5995" y="0"/>
            <a:ext cx="10168411" cy="6857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9"/>
          <p:cNvSpPr/>
          <p:nvPr/>
        </p:nvSpPr>
        <p:spPr>
          <a:xfrm>
            <a:off x="507997" y="1558925"/>
            <a:ext cx="5588100" cy="3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25" lIns="45700" spcFirstLastPara="1" rIns="45700" wrap="square" tIns="2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122" name="Google Shape;12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10490" y="1003303"/>
            <a:ext cx="118535" cy="1185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3" name="Google Shape;12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10490" y="1003303"/>
            <a:ext cx="118533" cy="118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4" name="Google Shape;124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21602" y="1058866"/>
            <a:ext cx="96303" cy="7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5" name="Google Shape;125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47536" y="1014416"/>
            <a:ext cx="44450" cy="96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8000" y="528842"/>
            <a:ext cx="3051974" cy="537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-3438" y="633467"/>
            <a:ext cx="7115436" cy="622600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9"/>
          <p:cNvSpPr txBox="1"/>
          <p:nvPr/>
        </p:nvSpPr>
        <p:spPr>
          <a:xfrm>
            <a:off x="7015339" y="1746367"/>
            <a:ext cx="5176800" cy="20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fr-FR" sz="2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Savoir-faire Chatelain</a:t>
            </a:r>
            <a:br>
              <a:rPr b="0" i="0" lang="fr-FR" sz="29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r>
              <a:rPr b="0" i="0" lang="fr-FR" sz="29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La Chaux-de-Fonds</a:t>
            </a:r>
            <a:endParaRPr b="1" i="0" sz="2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fr-FR" sz="29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27/10/2026</a:t>
            </a:r>
            <a:endParaRPr b="1" i="0" sz="37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9"/>
          <p:cNvSpPr txBox="1"/>
          <p:nvPr/>
        </p:nvSpPr>
        <p:spPr>
          <a:xfrm>
            <a:off x="7015328" y="4610974"/>
            <a:ext cx="51768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fr-FR" sz="27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Vos </a:t>
            </a:r>
            <a:r>
              <a:rPr b="1" i="0" lang="fr-FR" sz="27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collaborateurs</a:t>
            </a:r>
            <a:endParaRPr b="1" i="0" sz="27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fr-FR" sz="27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au cœur de votre réussite.</a:t>
            </a:r>
            <a:endParaRPr b="0" i="0" sz="2700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09728"/>
            <a:ext cx="9692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6733FC"/>
                </a:solidFill>
                <a:latin typeface="Inter"/>
              </a:rPr>
              <a:t>En synthèse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5509260" cy="4846320"/>
          </a:xfrm>
          <a:prstGeom prst="roundRect">
            <a:avLst>
              <a:gd name="adj" fmla="val 6000"/>
            </a:avLst>
          </a:prstGeom>
          <a:solidFill>
            <a:srgbClr val="F1ECFF"/>
          </a:solidFill>
          <a:ln w="12700">
            <a:solidFill>
              <a:srgbClr val="6733F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me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84048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15568" y="1042416"/>
            <a:ext cx="4741164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1B3A"/>
                </a:solidFill>
                <a:latin typeface="Inter"/>
              </a:rPr>
              <a:t>Notre compréhension de votre savoir-faire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91640"/>
            <a:ext cx="5180076" cy="397763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450" b="1" i="0">
                <a:solidFill>
                  <a:srgbClr val="1B1B3A"/>
                </a:solidFill>
                <a:latin typeface="Inter"/>
              </a:rPr>
              <a:t>Un savoir-faire d'excellence transmis de personne à personne</a:t>
            </a:r>
            <a:r>
              <a:rPr sz="1450" b="0" i="0">
                <a:solidFill>
                  <a:srgbClr val="1B1B3A"/>
                </a:solidFill>
                <a:latin typeface="Inter"/>
              </a:rPr>
              <a:t> : compagnonnage, tuteurs experts, modes opératoires.</a:t>
            </a:r>
          </a:p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450" b="1" i="0">
                <a:solidFill>
                  <a:srgbClr val="1B1B3A"/>
                </a:solidFill>
                <a:latin typeface="Inter"/>
              </a:rPr>
              <a:t>Rien n'est formalisé ni partagé</a:t>
            </a:r>
            <a:r>
              <a:rPr sz="1450" b="0" i="0">
                <a:solidFill>
                  <a:srgbClr val="1B1B3A"/>
                </a:solidFill>
                <a:latin typeface="Inter"/>
              </a:rPr>
              <a:t> : pas de définition commune de la compétence, niveaux non décrits, grilles Excel locales.</a:t>
            </a:r>
          </a:p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450" b="1" i="0">
                <a:solidFill>
                  <a:srgbClr val="1B1B3A"/>
                </a:solidFill>
                <a:latin typeface="Inter"/>
              </a:rPr>
              <a:t>Quatre ateliers, quatre logiques de découpage</a:t>
            </a:r>
            <a:r>
              <a:rPr sz="1450" b="0" i="0">
                <a:solidFill>
                  <a:srgbClr val="1B1B3A"/>
                </a:solidFill>
                <a:latin typeface="Inter"/>
              </a:rPr>
              <a:t> (technique, machine, matière, flux) : aucune vue transverse du site.</a:t>
            </a:r>
          </a:p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450" b="1" i="0">
                <a:solidFill>
                  <a:srgbClr val="1B1B3A"/>
                </a:solidFill>
                <a:latin typeface="Inter"/>
              </a:rPr>
              <a:t>Un enjeu de transmission et d'agilité</a:t>
            </a:r>
            <a:r>
              <a:rPr sz="1450" b="0" i="0">
                <a:solidFill>
                  <a:srgbClr val="1B1B3A"/>
                </a:solidFill>
                <a:latin typeface="Inter"/>
              </a:rPr>
              <a:t> plus que de conformité : départs attendus d'ici 5 à 10 ans, ateliers déséquilibrés.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914400"/>
            <a:ext cx="55092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1097280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3428" y="1042416"/>
            <a:ext cx="4741164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1B3A"/>
                </a:solidFill>
                <a:latin typeface="Inter"/>
              </a:rPr>
              <a:t>Pourquoi la démarche n'a pas tenu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9652" y="1691640"/>
            <a:ext cx="5180076" cy="397763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450" b="1" i="0">
                <a:solidFill>
                  <a:srgbClr val="1B1B3A"/>
                </a:solidFill>
                <a:latin typeface="Inter"/>
              </a:rPr>
              <a:t>On a digitalisé avant de standardiser</a:t>
            </a:r>
            <a:r>
              <a:rPr sz="1450" b="0" i="0">
                <a:solidFill>
                  <a:srgbClr val="1B1B3A"/>
                </a:solidFill>
                <a:latin typeface="Inter"/>
              </a:rPr>
              <a:t> : l'outil devait piloter un processus qui n'existait pas encore.</a:t>
            </a:r>
          </a:p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450" b="1" i="0">
                <a:solidFill>
                  <a:srgbClr val="1B1B3A"/>
                </a:solidFill>
                <a:latin typeface="Inter"/>
              </a:rPr>
              <a:t>Pas de valeur visible pour le terrain</a:t>
            </a:r>
            <a:r>
              <a:rPr sz="1450" b="0" i="0">
                <a:solidFill>
                  <a:srgbClr val="1B1B3A"/>
                </a:solidFill>
                <a:latin typeface="Inter"/>
              </a:rPr>
              <a:t> : référentiel rempli en novembre 2025, quasiment plus d'activité après février 2026.</a:t>
            </a:r>
          </a:p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450" b="1" i="0">
                <a:solidFill>
                  <a:srgbClr val="1B1B3A"/>
                </a:solidFill>
                <a:latin typeface="Inter"/>
              </a:rPr>
              <a:t>Ni temps, ni priorité, ni gouvernance production</a:t>
            </a:r>
            <a:r>
              <a:rPr sz="1450" b="0" i="0">
                <a:solidFill>
                  <a:srgbClr val="1B1B3A"/>
                </a:solidFill>
                <a:latin typeface="Inter"/>
              </a:rPr>
              <a:t> : un portage RH, des coordinateurs opérateurs 70 % de leur temps.</a:t>
            </a:r>
          </a:p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450" b="1" i="0">
                <a:solidFill>
                  <a:srgbClr val="1B1B3A"/>
                </a:solidFill>
                <a:latin typeface="Inter"/>
              </a:rPr>
              <a:t>Un pilote trop court, mesuré au volume</a:t>
            </a:r>
            <a:r>
              <a:rPr sz="1450" b="0" i="0">
                <a:solidFill>
                  <a:srgbClr val="1B1B3A"/>
                </a:solidFill>
                <a:latin typeface="Inter"/>
              </a:rPr>
              <a:t> : 839 compétences attribuées, mais ni état zéro ni bénéfice démontré.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noFill/>
        </p:spPr>
        <p:txBody>
          <a:bodyPr wrap="square" anchor="t" lIns="27432">
            <a:spAutoFit/>
          </a:bodyPr>
          <a:lstStyle/>
          <a:p>
            <a:r>
              <a:rPr sz="1200" b="1" i="0">
                <a:solidFill>
                  <a:srgbClr val="6733FC"/>
                </a:solidFill>
                <a:latin typeface="Inter"/>
              </a:rPr>
              <a:t>→  </a:t>
            </a:r>
            <a:r>
              <a:rPr sz="1200" b="1" i="0">
                <a:solidFill>
                  <a:srgbClr val="1B1B3A"/>
                </a:solidFill>
                <a:latin typeface="Inter"/>
              </a:rPr>
              <a:t>Le besoin était d'abord méthodologique ; nous avons déployé un outil comme sur un site déjà standardisé.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8000" b="1" i="0">
                <a:solidFill>
                  <a:srgbClr val="6733FC"/>
                </a:solidFill>
                <a:latin typeface="Inte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1B3A"/>
                </a:solidFill>
                <a:latin typeface="Inter"/>
              </a:rPr>
              <a:t>Notre compréhension de votre savoir-faire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8686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5E4DA4"/>
                </a:solidFill>
                <a:latin typeface="Inter"/>
              </a:rPr>
              <a:t>Comment le savoir-faire est géré et transmis aujourd'hui sur le 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09728"/>
            <a:ext cx="9692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6733FC"/>
                </a:solidFill>
                <a:latin typeface="Inter"/>
              </a:rPr>
              <a:t>Un savoir-faire d'excellence, peu formalisé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66960" y="182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>
            <a:noFill/>
          </a:ln>
        </p:spPr>
        <p:txBody>
          <a:bodyPr rtlCol="0" anchor="ctr" lIns="36576" rIns="36576"/>
          <a:lstStyle/>
          <a:p>
            <a:pPr algn="ctr"/>
            <a:r>
              <a:rPr sz="1050" b="1" i="0">
                <a:solidFill>
                  <a:srgbClr val="6733FC"/>
                </a:solidFill>
                <a:latin typeface="Inter"/>
              </a:rPr>
              <a:t>1 · Compréhension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68680"/>
            <a:ext cx="2640330" cy="123444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2366010" cy="566928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6733FC"/>
                </a:solidFill>
                <a:latin typeface="Inter"/>
              </a:rPr>
              <a:t>370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2366010" cy="5212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1B1B3A"/>
                </a:solidFill>
                <a:latin typeface="Inter"/>
              </a:rPr>
              <a:t>collaborateurs dans le périmètre audité : 220 en production, 150 en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26130" y="868680"/>
            <a:ext cx="2640330" cy="123444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63290" y="941832"/>
            <a:ext cx="2366010" cy="566928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6733FC"/>
                </a:solidFill>
                <a:latin typeface="Inter"/>
              </a:rPr>
              <a:t>~20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3290" y="1527048"/>
            <a:ext cx="2366010" cy="5212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1B1B3A"/>
                </a:solidFill>
                <a:latin typeface="Inter"/>
              </a:rPr>
              <a:t>équipes de production, encadrées par ~70 coordinateurs et responsables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5060" y="868680"/>
            <a:ext cx="2640330" cy="123444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2220" y="941832"/>
            <a:ext cx="2366010" cy="566928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6733FC"/>
                </a:solidFill>
                <a:latin typeface="Inter"/>
              </a:rPr>
              <a:t>~70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2220" y="1527048"/>
            <a:ext cx="2366010" cy="5212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1B1B3A"/>
                </a:solidFill>
                <a:latin typeface="Inter"/>
              </a:rPr>
              <a:t>métiers au cœur de l'usine, issus de 231 fonctions historiques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3990" y="868680"/>
            <a:ext cx="2640330" cy="123444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1150" y="941832"/>
            <a:ext cx="2366010" cy="566928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6733FC"/>
                </a:solidFill>
                <a:latin typeface="Inter"/>
              </a:rPr>
              <a:t>5–10 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1150" y="1527048"/>
            <a:ext cx="2366010" cy="5212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1B1B3A"/>
                </a:solidFill>
                <a:latin typeface="Inter"/>
              </a:rPr>
              <a:t>horizon des départs de détenteurs de savoir-faire critiques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23160"/>
            <a:ext cx="359664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2551176"/>
            <a:ext cx="2828544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1B3A"/>
                </a:solidFill>
                <a:latin typeface="Inter"/>
              </a:rPr>
              <a:t>Préserver les savoir-faire critiques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200400"/>
            <a:ext cx="3267456" cy="246887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9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Le savoir est « dans la tête » des coordinateurs et des experts</a:t>
            </a:r>
          </a:p>
          <a:p>
            <a:pPr marL="146304" indent="-146304">
              <a:spcBef>
                <a:spcPts val="9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Deux populations : ~3 ans et ~40 ans d'ancienneté</a:t>
            </a:r>
          </a:p>
          <a:p>
            <a:pPr marL="146304" indent="-146304">
              <a:spcBef>
                <a:spcPts val="9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Des savoir-faire déjà fragilisés en horlogerie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2423160"/>
            <a:ext cx="359664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65320" y="260604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0808" y="2551176"/>
            <a:ext cx="2828544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1B3A"/>
                </a:solidFill>
                <a:latin typeface="Inter"/>
              </a:rPr>
              <a:t>Structurer la formation au poste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7032" y="3200400"/>
            <a:ext cx="3267456" cy="246887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9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Pas de parcours formalisé : le mode opératoire tient lieu de formation</a:t>
            </a:r>
          </a:p>
          <a:p>
            <a:pPr marL="146304" indent="-146304">
              <a:spcBef>
                <a:spcPts val="9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Tuteurs choisis pour leur expertise, pas pour leur pédagogie</a:t>
            </a:r>
          </a:p>
          <a:p>
            <a:pPr marL="146304" indent="-146304">
              <a:spcBef>
                <a:spcPts val="9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Aucun suivi du temps ni de la qualité des formations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7680" y="2423160"/>
            <a:ext cx="359664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90560" y="260604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6048" y="2551176"/>
            <a:ext cx="2828543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1B3A"/>
                </a:solidFill>
                <a:latin typeface="Inter"/>
              </a:rPr>
              <a:t>Gagner en agilité entre ateliers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2272" y="3200400"/>
            <a:ext cx="3267456" cy="246887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9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Ateliers chargés de façon inégale (trop de polisseurs, pas assez d'usineurs)</a:t>
            </a:r>
          </a:p>
          <a:p>
            <a:pPr marL="146304" indent="-146304">
              <a:spcBef>
                <a:spcPts val="9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Prêts et transferts arbitrés au cas par cas</a:t>
            </a:r>
          </a:p>
          <a:p>
            <a:pPr marL="146304" indent="-146304">
              <a:spcBef>
                <a:spcPts val="9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Collaborateurs sans visibilité sur leurs évolutions possibles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79592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6733FC"/>
                </a:solidFill>
                <a:latin typeface="Inter"/>
              </a:rPr>
              <a:t>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989320"/>
            <a:ext cx="10789920" cy="68580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r>
              <a:rPr sz="1100" b="0" i="1">
                <a:solidFill>
                  <a:srgbClr val="1B1B3A"/>
                </a:solidFill>
                <a:latin typeface="Inter"/>
              </a:rPr>
              <a:t>Je connais plus ou moins les savoir-faire, mais je ne sais pas spécifiquement où ils sont. Quand il faut faire un transfert, je ne sais pas. Quand il faut faire une succession, je ne sais pas.</a:t>
            </a:r>
            <a:r>
              <a:rPr sz="950" b="0" i="0">
                <a:solidFill>
                  <a:srgbClr val="6B6B80"/>
                </a:solidFill>
                <a:latin typeface="Inter"/>
              </a:rPr>
              <a:t>  — RH, janv.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09728"/>
            <a:ext cx="9692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6733FC"/>
                </a:solidFill>
                <a:latin typeface="Inter"/>
              </a:rPr>
              <a:t>Comment le savoir-faire se transmet aujourd'hui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66960" y="182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>
            <a:noFill/>
          </a:ln>
        </p:spPr>
        <p:txBody>
          <a:bodyPr rtlCol="0" anchor="ctr" lIns="36576" rIns="36576"/>
          <a:lstStyle/>
          <a:p>
            <a:pPr algn="ctr"/>
            <a:r>
              <a:rPr sz="1050" b="1" i="0">
                <a:solidFill>
                  <a:srgbClr val="6733FC"/>
                </a:solidFill>
                <a:latin typeface="Inter"/>
              </a:rPr>
              <a:t>1 · Compréhension</a:t>
            </a:r>
          </a:p>
        </p:txBody>
      </p:sp>
      <p:pic>
        <p:nvPicPr>
          <p:cNvPr id="4" name="Picture 3" descr="a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070991"/>
            <a:ext cx="338328" cy="338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" y="1418463"/>
            <a:ext cx="1143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50" b="1" i="0">
                <a:solidFill>
                  <a:srgbClr val="5E4DA4"/>
                </a:solidFill>
                <a:latin typeface="Inter"/>
              </a:rPr>
              <a:t>Direction / Resp. UAP</a:t>
            </a:r>
          </a:p>
        </p:txBody>
      </p:sp>
      <p:pic>
        <p:nvPicPr>
          <p:cNvPr id="6" name="Picture 5" descr="a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316861"/>
            <a:ext cx="338328" cy="338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" y="2664333"/>
            <a:ext cx="1143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50" b="1" i="0">
                <a:solidFill>
                  <a:srgbClr val="5E4DA4"/>
                </a:solidFill>
                <a:latin typeface="Inter"/>
              </a:rPr>
              <a:t>Coordinateur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2023110"/>
            <a:ext cx="10789920" cy="0"/>
          </a:xfrm>
          <a:prstGeom prst="line">
            <a:avLst/>
          </a:prstGeom>
          <a:ln w="6350">
            <a:solidFill>
              <a:srgbClr val="ECE9F5"/>
            </a:solidFill>
          </a:ln>
        </p:spPr>
      </p:cxnSp>
      <p:pic>
        <p:nvPicPr>
          <p:cNvPr id="9" name="Picture 8" descr="a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562731"/>
            <a:ext cx="338328" cy="3383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" y="3910203"/>
            <a:ext cx="1143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50" b="1" i="0">
                <a:solidFill>
                  <a:srgbClr val="5E4DA4"/>
                </a:solidFill>
                <a:latin typeface="Inter"/>
              </a:rPr>
              <a:t>Tuteur (opérateur expert)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20" y="3268980"/>
            <a:ext cx="10789920" cy="0"/>
          </a:xfrm>
          <a:prstGeom prst="line">
            <a:avLst/>
          </a:prstGeom>
          <a:ln w="6350">
            <a:solidFill>
              <a:srgbClr val="ECE9F5"/>
            </a:solidFill>
          </a:ln>
        </p:spPr>
      </p:cxnSp>
      <p:pic>
        <p:nvPicPr>
          <p:cNvPr id="12" name="Picture 11" descr="a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808601"/>
            <a:ext cx="338328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288" y="5156073"/>
            <a:ext cx="1143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850" b="1" i="0">
                <a:solidFill>
                  <a:srgbClr val="5E4DA4"/>
                </a:solidFill>
                <a:latin typeface="Inter"/>
              </a:rPr>
              <a:t>RH / HSE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88720" y="4514850"/>
            <a:ext cx="10789920" cy="0"/>
          </a:xfrm>
          <a:prstGeom prst="line">
            <a:avLst/>
          </a:prstGeom>
          <a:ln w="6350">
            <a:solidFill>
              <a:srgbClr val="ECE9F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143000" y="731519"/>
            <a:ext cx="0" cy="5029201"/>
          </a:xfrm>
          <a:prstGeom prst="line">
            <a:avLst/>
          </a:prstGeom>
          <a:ln w="9525">
            <a:solidFill>
              <a:srgbClr val="D0CECE"/>
            </a:solidFill>
            <a:prstDash val="dash"/>
          </a:ln>
        </p:spPr>
      </p:cxnSp>
      <p:sp>
        <p:nvSpPr>
          <p:cNvPr id="16" name="Rectangle 15"/>
          <p:cNvSpPr/>
          <p:nvPr/>
        </p:nvSpPr>
        <p:spPr>
          <a:xfrm>
            <a:off x="1280160" y="4726305"/>
            <a:ext cx="1463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5E4DA4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5E4DA4"/>
                </a:solidFill>
                <a:latin typeface="Inter"/>
              </a:rPr>
              <a:t>Accueil d'une journée : RH, sécurité, IT</a:t>
            </a:r>
          </a:p>
        </p:txBody>
      </p:sp>
      <p:pic>
        <p:nvPicPr>
          <p:cNvPr id="17" name="Picture 16" descr="p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4598289"/>
            <a:ext cx="237744" cy="23774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063239" y="2234564"/>
            <a:ext cx="1463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5E4DA4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5E4DA4"/>
                </a:solidFill>
                <a:latin typeface="Inter"/>
              </a:rPr>
              <a:t>Place le nouvel arrivant avec une personne jugée compétente</a:t>
            </a:r>
          </a:p>
        </p:txBody>
      </p:sp>
      <p:pic>
        <p:nvPicPr>
          <p:cNvPr id="19" name="Picture 18" descr="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5" y="2106548"/>
            <a:ext cx="237744" cy="23774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846320" y="3480435"/>
            <a:ext cx="1463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5E4DA4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5E4DA4"/>
                </a:solidFill>
                <a:latin typeface="Inter"/>
              </a:rPr>
              <a:t>Transmet le geste et les pratiques informelles</a:t>
            </a:r>
          </a:p>
        </p:txBody>
      </p:sp>
      <p:pic>
        <p:nvPicPr>
          <p:cNvPr id="21" name="Picture 20" descr="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3352419"/>
            <a:ext cx="237744" cy="23774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629400" y="3480435"/>
            <a:ext cx="1463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5E4DA4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5E4DA4"/>
                </a:solidFill>
                <a:latin typeface="Inter"/>
              </a:rPr>
              <a:t>Le mode opératoire (GED) tient lieu de support</a:t>
            </a:r>
          </a:p>
        </p:txBody>
      </p:sp>
      <p:pic>
        <p:nvPicPr>
          <p:cNvPr id="23" name="Picture 22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136" y="3352419"/>
            <a:ext cx="237744" cy="237744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629400" y="2234564"/>
            <a:ext cx="1463040" cy="822960"/>
          </a:xfrm>
          <a:prstGeom prst="rect">
            <a:avLst/>
          </a:prstGeom>
          <a:solidFill>
            <a:srgbClr val="FDEEEE"/>
          </a:solidFill>
          <a:ln w="15875">
            <a:solidFill>
              <a:srgbClr val="DC262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7F1D1D"/>
                </a:solidFill>
                <a:latin typeface="Inter"/>
              </a:rPr>
              <a:t>Juge l'autonomie au ressenti : niveaux non décrits</a:t>
            </a:r>
          </a:p>
        </p:txBody>
      </p:sp>
      <p:pic>
        <p:nvPicPr>
          <p:cNvPr id="25" name="Picture 24" descr="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6136" y="2106548"/>
            <a:ext cx="237744" cy="237744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412480" y="2234564"/>
            <a:ext cx="1463040" cy="822960"/>
          </a:xfrm>
          <a:prstGeom prst="rect">
            <a:avLst/>
          </a:prstGeom>
          <a:solidFill>
            <a:srgbClr val="FDEEEE"/>
          </a:solidFill>
          <a:ln w="15875">
            <a:solidFill>
              <a:srgbClr val="DC262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7F1D1D"/>
                </a:solidFill>
                <a:latin typeface="Inter"/>
              </a:rPr>
              <a:t>Met à jour, ou non, sa grille Excel locale</a:t>
            </a:r>
          </a:p>
        </p:txBody>
      </p:sp>
      <p:pic>
        <p:nvPicPr>
          <p:cNvPr id="27" name="Picture 26" descr="exce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9215" y="2106548"/>
            <a:ext cx="237744" cy="237744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0195560" y="988695"/>
            <a:ext cx="1463040" cy="822960"/>
          </a:xfrm>
          <a:prstGeom prst="rect">
            <a:avLst/>
          </a:prstGeom>
          <a:solidFill>
            <a:srgbClr val="FDEEEE"/>
          </a:solidFill>
          <a:ln w="15875">
            <a:solidFill>
              <a:srgbClr val="DC262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7F1D1D"/>
                </a:solidFill>
                <a:latin typeface="Inter"/>
              </a:rPr>
              <a:t>Arbitre prêts et mobilités sans vue transverse</a:t>
            </a:r>
          </a:p>
        </p:txBody>
      </p:sp>
      <p:pic>
        <p:nvPicPr>
          <p:cNvPr id="29" name="Picture 28" descr="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12296" y="860679"/>
            <a:ext cx="237744" cy="237744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412480" y="4726305"/>
            <a:ext cx="1463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5E4DA4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5E4DA4"/>
                </a:solidFill>
                <a:latin typeface="Inter"/>
              </a:rPr>
              <a:t>Suit habilitations et formations externes sur Excel</a:t>
            </a:r>
          </a:p>
        </p:txBody>
      </p:sp>
      <p:pic>
        <p:nvPicPr>
          <p:cNvPr id="31" name="Picture 30" descr="exce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9215" y="4598289"/>
            <a:ext cx="237744" cy="237744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0195560" y="4726305"/>
            <a:ext cx="1463040" cy="822960"/>
          </a:xfrm>
          <a:prstGeom prst="rect">
            <a:avLst/>
          </a:prstGeom>
          <a:solidFill>
            <a:srgbClr val="FDEEEE"/>
          </a:solidFill>
          <a:ln w="15875">
            <a:solidFill>
              <a:srgbClr val="DC262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900" b="1" i="0">
                <a:solidFill>
                  <a:srgbClr val="7F1D1D"/>
                </a:solidFill>
                <a:latin typeface="Inter"/>
              </a:rPr>
              <a:t>Interrogée sur « qui est formé » sans avoir l'information</a:t>
            </a:r>
          </a:p>
        </p:txBody>
      </p:sp>
      <p:cxnSp>
        <p:nvCxnSpPr>
          <p:cNvPr id="33" name="Connector 32"/>
          <p:cNvCxnSpPr>
            <a:stCxn id="16" idx="3"/>
            <a:endCxn id="18" idx="1"/>
          </p:cNvCxnSpPr>
          <p:nvPr/>
        </p:nvCxnSpPr>
        <p:spPr>
          <a:xfrm flipV="1">
            <a:off x="2743200" y="2646044"/>
            <a:ext cx="320039" cy="2491741"/>
          </a:xfrm>
          <a:prstGeom prst="curvedConnector3">
            <a:avLst/>
          </a:prstGeom>
          <a:ln w="11430">
            <a:solidFill>
              <a:srgbClr val="5E4DA4"/>
            </a:solidFill>
            <a:tailEnd type="triangle" w="med" len="med"/>
          </a:ln>
        </p:spPr>
      </p:cxnSp>
      <p:cxnSp>
        <p:nvCxnSpPr>
          <p:cNvPr id="34" name="Connector 33"/>
          <p:cNvCxnSpPr>
            <a:stCxn id="18" idx="3"/>
            <a:endCxn id="20" idx="1"/>
          </p:cNvCxnSpPr>
          <p:nvPr/>
        </p:nvCxnSpPr>
        <p:spPr>
          <a:xfrm>
            <a:off x="4526279" y="2646044"/>
            <a:ext cx="320041" cy="1245871"/>
          </a:xfrm>
          <a:prstGeom prst="curvedConnector3">
            <a:avLst/>
          </a:prstGeom>
          <a:ln w="11430">
            <a:solidFill>
              <a:srgbClr val="5E4DA4"/>
            </a:solidFill>
            <a:tailEnd type="triangle" w="med" len="med"/>
          </a:ln>
        </p:spPr>
      </p:cxnSp>
      <p:cxnSp>
        <p:nvCxnSpPr>
          <p:cNvPr id="35" name="Connector 34"/>
          <p:cNvCxnSpPr>
            <a:stCxn id="20" idx="3"/>
            <a:endCxn id="22" idx="1"/>
          </p:cNvCxnSpPr>
          <p:nvPr/>
        </p:nvCxnSpPr>
        <p:spPr>
          <a:xfrm flipV="1">
            <a:off x="6309360" y="3891915"/>
            <a:ext cx="320040" cy="0"/>
          </a:xfrm>
          <a:prstGeom prst="line">
            <a:avLst/>
          </a:prstGeom>
          <a:ln w="11430">
            <a:solidFill>
              <a:srgbClr val="5E4DA4"/>
            </a:solidFill>
            <a:tailEnd type="triangle" w="med" len="med"/>
          </a:ln>
        </p:spPr>
      </p:cxnSp>
      <p:cxnSp>
        <p:nvCxnSpPr>
          <p:cNvPr id="36" name="Connector 35"/>
          <p:cNvCxnSpPr>
            <a:stCxn id="22" idx="0"/>
            <a:endCxn id="24" idx="2"/>
          </p:cNvCxnSpPr>
          <p:nvPr/>
        </p:nvCxnSpPr>
        <p:spPr>
          <a:xfrm flipH="1" flipV="1">
            <a:off x="7360920" y="3057524"/>
            <a:ext cx="0" cy="422911"/>
          </a:xfrm>
          <a:prstGeom prst="line">
            <a:avLst/>
          </a:prstGeom>
          <a:ln w="11430">
            <a:solidFill>
              <a:srgbClr val="5E4DA4"/>
            </a:solidFill>
            <a:tailEnd type="triangle" w="med" len="med"/>
          </a:ln>
        </p:spPr>
      </p:cxnSp>
      <p:cxnSp>
        <p:nvCxnSpPr>
          <p:cNvPr id="37" name="Connector 36"/>
          <p:cNvCxnSpPr>
            <a:stCxn id="24" idx="3"/>
            <a:endCxn id="26" idx="1"/>
          </p:cNvCxnSpPr>
          <p:nvPr/>
        </p:nvCxnSpPr>
        <p:spPr>
          <a:xfrm flipV="1">
            <a:off x="8092440" y="2646044"/>
            <a:ext cx="320040" cy="0"/>
          </a:xfrm>
          <a:prstGeom prst="line">
            <a:avLst/>
          </a:prstGeom>
          <a:ln w="11430">
            <a:solidFill>
              <a:srgbClr val="5E4DA4"/>
            </a:solidFill>
            <a:tailEnd type="triangle" w="med" len="med"/>
          </a:ln>
        </p:spPr>
      </p:cxnSp>
      <p:cxnSp>
        <p:nvCxnSpPr>
          <p:cNvPr id="38" name="Connector 37"/>
          <p:cNvCxnSpPr>
            <a:stCxn id="26" idx="3"/>
            <a:endCxn id="28" idx="1"/>
          </p:cNvCxnSpPr>
          <p:nvPr/>
        </p:nvCxnSpPr>
        <p:spPr>
          <a:xfrm flipV="1">
            <a:off x="9875520" y="1400175"/>
            <a:ext cx="320040" cy="1245869"/>
          </a:xfrm>
          <a:prstGeom prst="curvedConnector3">
            <a:avLst/>
          </a:prstGeom>
          <a:ln w="11430">
            <a:solidFill>
              <a:srgbClr val="5E4DA4"/>
            </a:solidFill>
            <a:tailEnd type="triangle" w="med" len="med"/>
          </a:ln>
        </p:spPr>
      </p:cxnSp>
      <p:cxnSp>
        <p:nvCxnSpPr>
          <p:cNvPr id="39" name="Connector 38"/>
          <p:cNvCxnSpPr>
            <a:stCxn id="30" idx="3"/>
            <a:endCxn id="32" idx="1"/>
          </p:cNvCxnSpPr>
          <p:nvPr/>
        </p:nvCxnSpPr>
        <p:spPr>
          <a:xfrm flipV="1">
            <a:off x="9875520" y="5137785"/>
            <a:ext cx="320040" cy="0"/>
          </a:xfrm>
          <a:prstGeom prst="line">
            <a:avLst/>
          </a:prstGeom>
          <a:ln w="11430">
            <a:solidFill>
              <a:srgbClr val="5E4DA4"/>
            </a:solidFill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1280160" y="5943600"/>
            <a:ext cx="7863840" cy="685800"/>
          </a:xfrm>
          <a:prstGeom prst="rect">
            <a:avLst/>
          </a:prstGeom>
          <a:noFill/>
        </p:spPr>
        <p:txBody>
          <a:bodyPr wrap="square" anchor="t" lIns="27432">
            <a:spAutoFit/>
          </a:bodyPr>
          <a:lstStyle/>
          <a:p>
            <a:r>
              <a:rPr sz="1200" b="1" i="0">
                <a:solidFill>
                  <a:srgbClr val="6733FC"/>
                </a:solidFill>
                <a:latin typeface="Inter"/>
              </a:rPr>
              <a:t>→  </a:t>
            </a:r>
            <a:r>
              <a:rPr sz="1200" b="1" i="0">
                <a:solidFill>
                  <a:srgbClr val="1B1B3A"/>
                </a:solidFill>
                <a:latin typeface="Inter"/>
              </a:rPr>
              <a:t>Le savoir-faire se transmet bien, mais de personne à personne : rien n'est partageable au-delà de l'atelier.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09760" y="6016752"/>
            <a:ext cx="201168" cy="118872"/>
          </a:xfrm>
          <a:prstGeom prst="rect">
            <a:avLst/>
          </a:prstGeom>
          <a:solidFill>
            <a:srgbClr val="FDEEEE"/>
          </a:solidFill>
          <a:ln w="11430">
            <a:solidFill>
              <a:srgbClr val="DC26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65792" y="5971032"/>
            <a:ext cx="228600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E4DA4"/>
                </a:solidFill>
                <a:latin typeface="Inter"/>
              </a:rPr>
              <a:t>Point de douleur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760" y="6208776"/>
            <a:ext cx="201168" cy="118872"/>
          </a:xfrm>
          <a:prstGeom prst="rect">
            <a:avLst/>
          </a:prstGeom>
          <a:solidFill>
            <a:srgbClr val="FFFFFF"/>
          </a:solidFill>
          <a:ln w="11430">
            <a:solidFill>
              <a:srgbClr val="5E4D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65792" y="6163056"/>
            <a:ext cx="2286000" cy="2011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E4DA4"/>
                </a:solidFill>
                <a:latin typeface="Inter"/>
              </a:rPr>
              <a:t>Étape du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09728"/>
            <a:ext cx="9692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6733FC"/>
                </a:solidFill>
                <a:latin typeface="Inter"/>
              </a:rPr>
              <a:t>Qui porte le savoir-faire aujourd'hui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66960" y="182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>
            <a:noFill/>
          </a:ln>
        </p:spPr>
        <p:txBody>
          <a:bodyPr rtlCol="0" anchor="ctr" lIns="36576" rIns="36576"/>
          <a:lstStyle/>
          <a:p>
            <a:pPr algn="ctr"/>
            <a:r>
              <a:rPr sz="1050" b="1" i="0">
                <a:solidFill>
                  <a:srgbClr val="6733FC"/>
                </a:solidFill>
                <a:latin typeface="Inter"/>
              </a:rPr>
              <a:t>1 · Compréhension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868680"/>
          <a:ext cx="11247120" cy="47365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86000"/>
                <a:gridCol w="3657600"/>
                <a:gridCol w="53035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Acteur</a:t>
                      </a:r>
                    </a:p>
                  </a:txBody>
                  <a:tcPr marL="73152" marR="73152" marT="45720" marB="45720" anchor="ctr">
                    <a:solidFill>
                      <a:srgbClr val="6733FC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Son rôle</a:t>
                      </a:r>
                    </a:p>
                  </a:txBody>
                  <a:tcPr marL="73152" marR="73152" marT="45720" marB="45720" anchor="ctr">
                    <a:solidFill>
                      <a:srgbClr val="6733FC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Ce que nous avons observé</a:t>
                      </a:r>
                    </a:p>
                  </a:txBody>
                  <a:tcPr marL="73152" marR="73152" marT="45720" marB="45720" anchor="ctr">
                    <a:solidFill>
                      <a:srgbClr val="6733FC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B1B3A"/>
                          </a:solidFill>
                          <a:latin typeface="Inter"/>
                        </a:rPr>
                        <a:t>Direction de production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Fixe les priorités, sponsor du projet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Pas d'objectif de polyvalence formalisé ; la production passe avant le projet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B1B3A"/>
                          </a:solidFill>
                          <a:latin typeface="Inter"/>
                        </a:rPr>
                        <a:t>Responsables d'UAP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Répartissent les ressources entre ateliers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Prêts et transferts arbitrés au cas par cas ; peu associés à la définition des objectifs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B1B3A"/>
                          </a:solidFill>
                          <a:latin typeface="Inter"/>
                        </a:rPr>
                        <a:t>Coordinateurs (~70)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Affectent, forment et évaluent au quotidien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Opérateurs ~70 % de leur temps, évalués sur la présence au poste ; cartographie « en mémoire »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B1B3A"/>
                          </a:solidFill>
                          <a:latin typeface="Inter"/>
                        </a:rPr>
                        <a:t>Tuteurs / experts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Transmettent le geste par compagnonnage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Choisis pour leur expertise ; pas de support ni de validation formalisée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B1B3A"/>
                          </a:solidFill>
                          <a:latin typeface="Inter"/>
                        </a:rPr>
                        <a:t>RH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Accueil, fonctions, entretiens annuels, revues salariales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Trois référentiels (interne, groupe dans Workday, branche) ; sollicitée pour savoir « qui est formé »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B1B3A"/>
                          </a:solidFill>
                          <a:latin typeface="Inter"/>
                        </a:rPr>
                        <a:t>HSE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Identifie les besoins d'habilitation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Pas de matrice ; suivi Excel ; écart RJC sur la preuve de formation sécurité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noFill/>
        </p:spPr>
        <p:txBody>
          <a:bodyPr wrap="square" anchor="t" lIns="27432">
            <a:spAutoFit/>
          </a:bodyPr>
          <a:lstStyle/>
          <a:p>
            <a:r>
              <a:rPr sz="1200" b="1" i="0">
                <a:solidFill>
                  <a:srgbClr val="6733FC"/>
                </a:solidFill>
                <a:latin typeface="Inter"/>
              </a:rPr>
              <a:t>→  </a:t>
            </a:r>
            <a:r>
              <a:rPr sz="1200" b="1" i="0">
                <a:solidFill>
                  <a:srgbClr val="1B1B3A"/>
                </a:solidFill>
                <a:latin typeface="Inter"/>
              </a:rPr>
              <a:t>Le savoir-faire repose sur ceux qui ont le moins de temps pour le formaliser : les coordinateurs.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09728"/>
            <a:ext cx="9692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6733FC"/>
                </a:solidFill>
                <a:latin typeface="Inter"/>
              </a:rPr>
              <a:t>Quatre ateliers, quatre logiques de découpage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66960" y="182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>
            <a:noFill/>
          </a:ln>
        </p:spPr>
        <p:txBody>
          <a:bodyPr rtlCol="0" anchor="ctr" lIns="36576" rIns="36576"/>
          <a:lstStyle/>
          <a:p>
            <a:pPr algn="ctr"/>
            <a:r>
              <a:rPr sz="1050" b="1" i="0">
                <a:solidFill>
                  <a:srgbClr val="6733FC"/>
                </a:solidFill>
                <a:latin typeface="Inter"/>
              </a:rPr>
              <a:t>1 · Compréhension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1B1B3A"/>
                </a:solidFill>
                <a:latin typeface="Inter"/>
              </a:rPr>
              <a:t>Référentiel construit par chaque coordinateur pilote sur la plateforme (135 compétences au total) 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64033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53895"/>
            <a:ext cx="2347722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1B3A"/>
                </a:solidFill>
                <a:latin typeface="Inter"/>
              </a:rPr>
              <a:t>Montage / joaillerie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27457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6733FC"/>
                </a:solidFill>
                <a:latin typeface="Inter"/>
              </a:rPr>
              <a:t>UAP A-B · par technique et par produit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514600"/>
            <a:ext cx="2311146" cy="315467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000"/>
              </a:spcBef>
              <a:buClr>
                <a:srgbClr val="6733FC"/>
              </a:buClr>
              <a:buFont typeface="Arial"/>
              <a:buChar char="•"/>
            </a:pPr>
            <a:r>
              <a:rPr sz="1250" b="0" i="0">
                <a:solidFill>
                  <a:srgbClr val="1B1B3A"/>
                </a:solidFill>
                <a:latin typeface="Inter"/>
              </a:rPr>
              <a:t>17 compétences « TM » : brasage, serti potence, soudage…</a:t>
            </a:r>
          </a:p>
          <a:p>
            <a:pPr marL="146304" indent="-146304">
              <a:spcBef>
                <a:spcPts val="1000"/>
              </a:spcBef>
              <a:buClr>
                <a:srgbClr val="6733FC"/>
              </a:buClr>
              <a:buFont typeface="Arial"/>
              <a:buChar char="•"/>
            </a:pPr>
            <a:r>
              <a:rPr sz="1250" b="0" i="0">
                <a:solidFill>
                  <a:srgbClr val="1B1B3A"/>
                </a:solidFill>
                <a:latin typeface="Inter"/>
              </a:rPr>
              <a:t>Postes par collection : Coco, Extrait N°5, ULTRA, Souplesse</a:t>
            </a:r>
          </a:p>
          <a:p>
            <a:pPr marL="146304" indent="-146304">
              <a:spcBef>
                <a:spcPts val="1000"/>
              </a:spcBef>
              <a:buClr>
                <a:srgbClr val="6733FC"/>
              </a:buClr>
              <a:buFont typeface="Arial"/>
              <a:buChar char="•"/>
            </a:pPr>
            <a:r>
              <a:rPr sz="1250" b="0" i="0">
                <a:solidFill>
                  <a:srgbClr val="1B1B3A"/>
                </a:solidFill>
                <a:latin typeface="Inter"/>
              </a:rPr>
              <a:t>Sous-postes par pièce : bague, pendentif, bracelet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6130" y="1325880"/>
            <a:ext cx="264033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9010" y="1453895"/>
            <a:ext cx="2347722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1B3A"/>
                </a:solidFill>
                <a:latin typeface="Inter"/>
              </a:rPr>
              <a:t>Usinage / rectification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9010" y="2011680"/>
            <a:ext cx="227457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6733FC"/>
                </a:solidFill>
                <a:latin typeface="Inter"/>
              </a:rPr>
              <a:t>UAP C · par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0722" y="2514600"/>
            <a:ext cx="2311146" cy="315467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000"/>
              </a:spcBef>
              <a:buClr>
                <a:srgbClr val="6733FC"/>
              </a:buClr>
              <a:buFont typeface="Arial"/>
              <a:buChar char="•"/>
            </a:pPr>
            <a:r>
              <a:rPr sz="1250" b="0" i="0">
                <a:solidFill>
                  <a:srgbClr val="1B1B3A"/>
                </a:solidFill>
                <a:latin typeface="Inter"/>
              </a:rPr>
              <a:t>10 compétences « M » : une par machine (Bumotec, Crevoisier, Fanuc…)</a:t>
            </a:r>
          </a:p>
          <a:p>
            <a:pPr marL="146304" indent="-146304">
              <a:spcBef>
                <a:spcPts val="1000"/>
              </a:spcBef>
              <a:buClr>
                <a:srgbClr val="6733FC"/>
              </a:buClr>
              <a:buFont typeface="Arial"/>
              <a:buChar char="•"/>
            </a:pPr>
            <a:r>
              <a:rPr sz="1250" b="0" i="0">
                <a:solidFill>
                  <a:srgbClr val="1B1B3A"/>
                </a:solidFill>
                <a:latin typeface="Inter"/>
              </a:rPr>
              <a:t>8 compétences « P » : lecture de plan, code ISO, réglage</a:t>
            </a:r>
          </a:p>
          <a:p>
            <a:pPr marL="146304" indent="-146304">
              <a:spcBef>
                <a:spcPts val="1000"/>
              </a:spcBef>
              <a:buClr>
                <a:srgbClr val="6733FC"/>
              </a:buClr>
              <a:buFont typeface="Arial"/>
              <a:buChar char="•"/>
            </a:pPr>
            <a:r>
              <a:rPr sz="1250" b="0" i="0">
                <a:solidFill>
                  <a:srgbClr val="1B1B3A"/>
                </a:solidFill>
                <a:latin typeface="Inter"/>
              </a:rPr>
              <a:t>Poste opérateur régleur décliné en 10 sous-postes 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1325880"/>
            <a:ext cx="264033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7940" y="1453895"/>
            <a:ext cx="2347722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1B3A"/>
                </a:solidFill>
                <a:latin typeface="Inter"/>
              </a:rPr>
              <a:t>Terminaison / polissage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7940" y="2011680"/>
            <a:ext cx="227457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6733FC"/>
                </a:solidFill>
                <a:latin typeface="Inter"/>
              </a:rPr>
              <a:t>UAP D · par technique et par matière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9652" y="2514600"/>
            <a:ext cx="2311146" cy="315467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000"/>
              </a:spcBef>
              <a:buClr>
                <a:srgbClr val="6733FC"/>
              </a:buClr>
              <a:buFont typeface="Arial"/>
              <a:buChar char="•"/>
            </a:pPr>
            <a:r>
              <a:rPr sz="1250" b="0" i="0">
                <a:solidFill>
                  <a:srgbClr val="1B1B3A"/>
                </a:solidFill>
                <a:latin typeface="Inter"/>
              </a:rPr>
              <a:t>14 compétences « TP » : avivage, satinage, lapidage…</a:t>
            </a:r>
          </a:p>
          <a:p>
            <a:pPr marL="146304" indent="-146304">
              <a:spcBef>
                <a:spcPts val="1000"/>
              </a:spcBef>
              <a:buClr>
                <a:srgbClr val="6733FC"/>
              </a:buClr>
              <a:buFont typeface="Arial"/>
              <a:buChar char="•"/>
            </a:pPr>
            <a:r>
              <a:rPr sz="1250" b="0" i="0">
                <a:solidFill>
                  <a:srgbClr val="1B1B3A"/>
                </a:solidFill>
                <a:latin typeface="Inter"/>
              </a:rPr>
              <a:t>6 compétences « Mé » : acier, or, platine, titane…</a:t>
            </a:r>
          </a:p>
          <a:p>
            <a:pPr marL="146304" indent="-146304">
              <a:spcBef>
                <a:spcPts val="1000"/>
              </a:spcBef>
              <a:buClr>
                <a:srgbClr val="6733FC"/>
              </a:buClr>
              <a:buFont typeface="Arial"/>
              <a:buChar char="•"/>
            </a:pPr>
            <a:r>
              <a:rPr sz="1250" b="0" i="0">
                <a:solidFill>
                  <a:srgbClr val="1B1B3A"/>
                </a:solidFill>
                <a:latin typeface="Inter"/>
              </a:rPr>
              <a:t>Postes polisseur et polisseur référent, grande série et CRF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990" y="1325880"/>
            <a:ext cx="264033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46870" y="1453895"/>
            <a:ext cx="2347722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1B3A"/>
                </a:solidFill>
                <a:latin typeface="Inter"/>
              </a:rPr>
              <a:t>Logistique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6870" y="2011680"/>
            <a:ext cx="227457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6733FC"/>
                </a:solidFill>
                <a:latin typeface="Inter"/>
              </a:rPr>
              <a:t>Stock et quai · par zone et par flux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8582" y="2514600"/>
            <a:ext cx="2311146" cy="315467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000"/>
              </a:spcBef>
              <a:buClr>
                <a:srgbClr val="6733FC"/>
              </a:buClr>
              <a:buFont typeface="Arial"/>
              <a:buChar char="•"/>
            </a:pPr>
            <a:r>
              <a:rPr sz="1250" b="0" i="0">
                <a:solidFill>
                  <a:srgbClr val="1B1B3A"/>
                </a:solidFill>
                <a:latin typeface="Inter"/>
              </a:rPr>
              <a:t>44 compétences « L », le tiers du référentiel</a:t>
            </a:r>
          </a:p>
          <a:p>
            <a:pPr marL="146304" indent="-146304">
              <a:spcBef>
                <a:spcPts val="1000"/>
              </a:spcBef>
              <a:buClr>
                <a:srgbClr val="6733FC"/>
              </a:buClr>
              <a:buFont typeface="Arial"/>
              <a:buChar char="•"/>
            </a:pPr>
            <a:r>
              <a:rPr sz="1250" b="0" i="0">
                <a:solidFill>
                  <a:srgbClr val="1B1B3A"/>
                </a:solidFill>
                <a:latin typeface="Inter"/>
              </a:rPr>
              <a:t>4 stocks et le quai × réception, picking, analyse, divers</a:t>
            </a:r>
          </a:p>
          <a:p>
            <a:pPr marL="146304" indent="-146304">
              <a:spcBef>
                <a:spcPts val="1000"/>
              </a:spcBef>
              <a:buClr>
                <a:srgbClr val="6733FC"/>
              </a:buClr>
              <a:buFont typeface="Arial"/>
              <a:buChar char="•"/>
            </a:pPr>
            <a:r>
              <a:rPr sz="1250" b="0" i="0">
                <a:solidFill>
                  <a:srgbClr val="1B1B3A"/>
                </a:solidFill>
                <a:latin typeface="Inter"/>
              </a:rPr>
              <a:t>Un titre unique « logisticien » depuis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noFill/>
        </p:spPr>
        <p:txBody>
          <a:bodyPr wrap="square" anchor="t" lIns="27432">
            <a:spAutoFit/>
          </a:bodyPr>
          <a:lstStyle/>
          <a:p>
            <a:r>
              <a:rPr sz="1200" b="1" i="0">
                <a:solidFill>
                  <a:srgbClr val="6733FC"/>
                </a:solidFill>
                <a:latin typeface="Inter"/>
              </a:rPr>
              <a:t>→  </a:t>
            </a:r>
            <a:r>
              <a:rPr sz="1200" b="1" i="0">
                <a:solidFill>
                  <a:srgbClr val="1B1B3A"/>
                </a:solidFill>
                <a:latin typeface="Inter"/>
              </a:rPr>
              <a:t>Une même compétence ne porte pas le même nom d'un atelier à l'autre : aucune vue transverse n'est 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09728"/>
            <a:ext cx="9692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6733FC"/>
                </a:solidFill>
                <a:latin typeface="Inter"/>
              </a:rPr>
              <a:t>Ce que montre le référentiel construit pendant le pilote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66960" y="182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>
            <a:noFill/>
          </a:ln>
        </p:spPr>
        <p:txBody>
          <a:bodyPr rtlCol="0" anchor="ctr" lIns="36576" rIns="36576"/>
          <a:lstStyle/>
          <a:p>
            <a:pPr algn="ctr"/>
            <a:r>
              <a:rPr sz="1050" b="1" i="0">
                <a:solidFill>
                  <a:srgbClr val="6733FC"/>
                </a:solidFill>
                <a:latin typeface="Inter"/>
              </a:rPr>
              <a:t>1 · Compréhension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68680"/>
            <a:ext cx="2066544" cy="123444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1792224" cy="566928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6733FC"/>
                </a:solidFill>
                <a:latin typeface="Inter"/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1792224" cy="5212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1B1B3A"/>
                </a:solidFill>
                <a:latin typeface="Inter"/>
              </a:rPr>
              <a:t>compétences, dont 116 créées en novembre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52344" y="868680"/>
            <a:ext cx="2066544" cy="123444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9504" y="941832"/>
            <a:ext cx="1792224" cy="566928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6733FC"/>
                </a:solidFill>
                <a:latin typeface="Inter"/>
              </a:rPr>
              <a:t>20 · 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9504" y="1527048"/>
            <a:ext cx="1792224" cy="5212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1B1B3A"/>
                </a:solidFill>
                <a:latin typeface="Inter"/>
              </a:rPr>
              <a:t>postes et sous-postes de travail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7488" y="868680"/>
            <a:ext cx="2066544" cy="123444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4648" y="941832"/>
            <a:ext cx="1792224" cy="566928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6733FC"/>
                </a:solidFill>
                <a:latin typeface="Inter"/>
              </a:rPr>
              <a:t>839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1527048"/>
            <a:ext cx="1792224" cy="5212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1B1B3A"/>
                </a:solidFill>
                <a:latin typeface="Inter"/>
              </a:rPr>
              <a:t>compétences attribuées à 61 collaborateurs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2632" y="868680"/>
            <a:ext cx="2066544" cy="123444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941832"/>
            <a:ext cx="1792224" cy="566928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6733FC"/>
                </a:solidFill>
                <a:latin typeface="Inter"/>
              </a:rPr>
              <a:t>83 %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527048"/>
            <a:ext cx="1792224" cy="5212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1B1B3A"/>
                </a:solidFill>
                <a:latin typeface="Inter"/>
              </a:rPr>
              <a:t>des niveaux saisis à « débutant / formé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37776" y="868680"/>
            <a:ext cx="2066544" cy="123444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74936" y="941832"/>
            <a:ext cx="1792224" cy="566928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6733FC"/>
                </a:solidFill>
                <a:latin typeface="Inter"/>
              </a:rPr>
              <a:t>11 /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4936" y="1527048"/>
            <a:ext cx="1792224" cy="5212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1B1B3A"/>
                </a:solidFill>
                <a:latin typeface="Inter"/>
              </a:rPr>
              <a:t>habilitations sans aucun titulaire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57200" y="2377439"/>
          <a:ext cx="1124712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noFill/>
        </p:spPr>
        <p:txBody>
          <a:bodyPr wrap="square" anchor="t" lIns="27432">
            <a:spAutoFit/>
          </a:bodyPr>
          <a:lstStyle/>
          <a:p>
            <a:r>
              <a:rPr sz="1200" b="1" i="0">
                <a:solidFill>
                  <a:srgbClr val="6733FC"/>
                </a:solidFill>
                <a:latin typeface="Inter"/>
              </a:rPr>
              <a:t>→  </a:t>
            </a:r>
            <a:r>
              <a:rPr sz="1200" b="1" i="0">
                <a:solidFill>
                  <a:srgbClr val="1B1B3A"/>
                </a:solidFill>
                <a:latin typeface="Inter"/>
              </a:rPr>
              <a:t>La matrice dit qui sait faire, pas qui maîtrise : niveaux peu utilisés et non décrits.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09728"/>
            <a:ext cx="9692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6733FC"/>
                </a:solidFill>
                <a:latin typeface="Inter"/>
              </a:rPr>
              <a:t>Une maturité de 2/5 sur les quatre axes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66960" y="182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</p:spPr>
        <p:txBody>
          <a:bodyPr rtlCol="0" anchor="ctr" lIns="36576" rIns="36576"/>
          <a:lstStyle/>
          <a:p>
            <a:pPr algn="ctr"/>
            <a:r>
              <a:rPr sz="1050" b="1" i="0">
                <a:solidFill>
                  <a:srgbClr val="555555"/>
                </a:solidFill>
                <a:latin typeface="Inter"/>
              </a:rPr>
              <a:t>Audit · nov. 2025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868680"/>
          <a:ext cx="11247120" cy="4663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1097280"/>
                <a:gridCol w="4023360"/>
                <a:gridCol w="40233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Axe</a:t>
                      </a:r>
                    </a:p>
                  </a:txBody>
                  <a:tcPr marL="73152" marR="73152" marT="45720" marB="45720" anchor="ctr">
                    <a:solidFill>
                      <a:srgbClr val="6733FC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Maturité</a:t>
                      </a:r>
                    </a:p>
                  </a:txBody>
                  <a:tcPr marL="73152" marR="73152" marT="45720" marB="45720" anchor="ctr">
                    <a:solidFill>
                      <a:srgbClr val="6733FC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Forces</a:t>
                      </a:r>
                    </a:p>
                  </a:txBody>
                  <a:tcPr marL="73152" marR="73152" marT="45720" marB="45720" anchor="ctr">
                    <a:solidFill>
                      <a:srgbClr val="6733FC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Inter"/>
                        </a:rPr>
                        <a:t>Faiblesses</a:t>
                      </a:r>
                    </a:p>
                  </a:txBody>
                  <a:tcPr marL="73152" marR="73152" marT="45720" marB="45720" anchor="ctr">
                    <a:solidFill>
                      <a:srgbClr val="6733FC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B1B3A"/>
                          </a:solidFill>
                          <a:latin typeface="Inter"/>
                        </a:rPr>
                        <a:t>Sécurité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6733FC"/>
                          </a:solidFill>
                          <a:latin typeface="Inter"/>
                        </a:rPr>
                        <a:t>2/5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Conscience des lacunes relevées par l'audit RJC ; volonté partagée de fiabiliser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Habilitations dispersées sur plusieurs supports, sans matrice ; preuves difficiles à retrouver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B1B3A"/>
                          </a:solidFill>
                          <a:latin typeface="Inter"/>
                        </a:rPr>
                        <a:t>Qualité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6733FC"/>
                          </a:solidFill>
                          <a:latin typeface="Inter"/>
                        </a:rPr>
                        <a:t>2/5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Notion de niveaux partagée par l'encadrement ; volonté de capitaliser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Pas de parcours ni de supports ; le plus expert n'est pas forcément le meilleur formateur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B1B3A"/>
                          </a:solidFill>
                          <a:latin typeface="Inter"/>
                        </a:rPr>
                        <a:t>Productivité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6733FC"/>
                          </a:solidFill>
                          <a:latin typeface="Inter"/>
                        </a:rPr>
                        <a:t>2/5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AIC et MES en cours ; Paretos des causes de non-performance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OF affectés chaque matin sans vue des compétences ; polyvalence non pilotée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B1B3A"/>
                          </a:solidFill>
                          <a:latin typeface="Inter"/>
                        </a:rPr>
                        <a:t>Autonomie des collaborateurs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6733FC"/>
                          </a:solidFill>
                          <a:latin typeface="Inter"/>
                        </a:rPr>
                        <a:t>2/5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Tuteurs existants ; forte fierté de la marque et des produits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B1B3A"/>
                          </a:solidFill>
                          <a:latin typeface="Inter"/>
                        </a:rPr>
                        <a:t>Peu de formalisation du « comment faire » ; aucune visibilité sur son parcours</a:t>
                      </a:r>
                    </a:p>
                  </a:txBody>
                  <a:tcPr marL="73152" marR="73152" marT="45720" marB="45720" anchor="ctr">
                    <a:solidFill>
                      <a:srgbClr val="F7F6FB"/>
                    </a:solidFill>
                    <a:lnL w="6350">
                      <a:solidFill>
                        <a:srgbClr val="E4E0F2"/>
                      </a:solidFill>
                    </a:lnL>
                    <a:lnR w="6350">
                      <a:solidFill>
                        <a:srgbClr val="E4E0F2"/>
                      </a:solidFill>
                    </a:lnR>
                    <a:lnT w="6350">
                      <a:solidFill>
                        <a:srgbClr val="E4E0F2"/>
                      </a:solidFill>
                    </a:lnT>
                    <a:lnB w="6350">
                      <a:solidFill>
                        <a:srgbClr val="E4E0F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noFill/>
        </p:spPr>
        <p:txBody>
          <a:bodyPr wrap="square" anchor="t" lIns="27432">
            <a:spAutoFit/>
          </a:bodyPr>
          <a:lstStyle/>
          <a:p>
            <a:r>
              <a:rPr sz="1200" b="1" i="0">
                <a:solidFill>
                  <a:srgbClr val="6733FC"/>
                </a:solidFill>
                <a:latin typeface="Inter"/>
              </a:rPr>
              <a:t>→  </a:t>
            </a:r>
            <a:r>
              <a:rPr sz="1200" b="1" i="0">
                <a:solidFill>
                  <a:srgbClr val="1B1B3A"/>
                </a:solidFill>
                <a:latin typeface="Inter"/>
              </a:rPr>
              <a:t>Des pratiques solides mais informelles : le savoir-faire existe, il n'est ni décrit ni partagé.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8000" b="1" i="0">
                <a:solidFill>
                  <a:srgbClr val="6733FC"/>
                </a:solidFill>
                <a:latin typeface="Inter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9601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1B1B3A"/>
                </a:solidFill>
                <a:latin typeface="Inter"/>
              </a:rPr>
              <a:t>Pourquoi ça n'a pas tenu sur le long terme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8686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5E4DA4"/>
                </a:solidFill>
                <a:latin typeface="Inter"/>
              </a:rPr>
              <a:t>Notre lecture du pilote et de ce qui a suivi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09728"/>
            <a:ext cx="9692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6733FC"/>
                </a:solidFill>
                <a:latin typeface="Inter"/>
              </a:rPr>
              <a:t>Deux ans de projet, dix semaines de pilote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66960" y="182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>
            <a:noFill/>
          </a:ln>
        </p:spPr>
        <p:txBody>
          <a:bodyPr rtlCol="0" anchor="ctr" lIns="36576" rIns="36576"/>
          <a:lstStyle/>
          <a:p>
            <a:pPr algn="ctr"/>
            <a:r>
              <a:rPr sz="1050" b="1" i="0">
                <a:solidFill>
                  <a:srgbClr val="6733FC"/>
                </a:solidFill>
                <a:latin typeface="Inter"/>
              </a:rPr>
              <a:t>2 · Analyse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51560" y="3401568"/>
            <a:ext cx="10058399" cy="0"/>
          </a:xfrm>
          <a:prstGeom prst="line">
            <a:avLst/>
          </a:prstGeom>
          <a:ln w="25400">
            <a:solidFill>
              <a:srgbClr val="CFC8EC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133856" y="3300984"/>
            <a:ext cx="201168" cy="201168"/>
          </a:xfrm>
          <a:prstGeom prst="ellipse">
            <a:avLst/>
          </a:prstGeom>
          <a:solidFill>
            <a:srgbClr val="6733FC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1234440" y="2990088"/>
            <a:ext cx="0" cy="301752"/>
          </a:xfrm>
          <a:prstGeom prst="line">
            <a:avLst/>
          </a:prstGeom>
          <a:ln w="12700">
            <a:solidFill>
              <a:srgbClr val="CFC8EC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365760" y="2532888"/>
            <a:ext cx="214884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50" b="1" i="0">
                <a:solidFill>
                  <a:srgbClr val="6733FC"/>
                </a:solidFill>
                <a:latin typeface="Inter"/>
              </a:rPr>
              <a:t>Nov.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86968"/>
            <a:ext cx="2148840" cy="16459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50" b="0" i="0">
                <a:solidFill>
                  <a:srgbClr val="1B1B3A"/>
                </a:solidFill>
                <a:latin typeface="Inter"/>
              </a:rPr>
              <a:t>Premiers échanges : localiser les savoir-faire critiques</a:t>
            </a:r>
          </a:p>
        </p:txBody>
      </p:sp>
      <p:sp>
        <p:nvSpPr>
          <p:cNvPr id="9" name="Oval 8"/>
          <p:cNvSpPr/>
          <p:nvPr/>
        </p:nvSpPr>
        <p:spPr>
          <a:xfrm>
            <a:off x="2345436" y="3300984"/>
            <a:ext cx="201168" cy="201168"/>
          </a:xfrm>
          <a:prstGeom prst="ellipse">
            <a:avLst/>
          </a:prstGeom>
          <a:solidFill>
            <a:srgbClr val="6733FC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446020" y="3511296"/>
            <a:ext cx="0" cy="301752"/>
          </a:xfrm>
          <a:prstGeom prst="line">
            <a:avLst/>
          </a:prstGeom>
          <a:ln w="12700">
            <a:solidFill>
              <a:srgbClr val="CFC8EC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1371599" y="3904488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50" b="1" i="0">
                <a:solidFill>
                  <a:srgbClr val="6733FC"/>
                </a:solidFill>
                <a:latin typeface="Inter"/>
              </a:rPr>
              <a:t>Fév.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599" y="4270248"/>
            <a:ext cx="214884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 i="0">
                <a:solidFill>
                  <a:srgbClr val="1B1B3A"/>
                </a:solidFill>
                <a:latin typeface="Inter"/>
              </a:rPr>
              <a:t>Présentation au CODIR : un des projets stratégiques du site</a:t>
            </a:r>
          </a:p>
        </p:txBody>
      </p:sp>
      <p:sp>
        <p:nvSpPr>
          <p:cNvPr id="13" name="Oval 12"/>
          <p:cNvSpPr/>
          <p:nvPr/>
        </p:nvSpPr>
        <p:spPr>
          <a:xfrm>
            <a:off x="3557016" y="3300984"/>
            <a:ext cx="201168" cy="201168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2990088"/>
            <a:ext cx="0" cy="301752"/>
          </a:xfrm>
          <a:prstGeom prst="line">
            <a:avLst/>
          </a:prstGeom>
          <a:ln w="12700">
            <a:solidFill>
              <a:srgbClr val="CFC8EC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2583180" y="2532888"/>
            <a:ext cx="214884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50" b="1" i="0">
                <a:solidFill>
                  <a:srgbClr val="DC2626"/>
                </a:solidFill>
                <a:latin typeface="Inter"/>
              </a:rPr>
              <a:t>Mai-juin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3180" y="886968"/>
            <a:ext cx="2148840" cy="16459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50" b="0" i="0">
                <a:solidFill>
                  <a:srgbClr val="1B1B3A"/>
                </a:solidFill>
                <a:latin typeface="Inter"/>
              </a:rPr>
              <a:t>Challenge du groupe (« pas un 56e logiciel ») : ~8 mois de décalage</a:t>
            </a:r>
          </a:p>
        </p:txBody>
      </p:sp>
      <p:sp>
        <p:nvSpPr>
          <p:cNvPr id="17" name="Oval 16"/>
          <p:cNvSpPr/>
          <p:nvPr/>
        </p:nvSpPr>
        <p:spPr>
          <a:xfrm>
            <a:off x="4768595" y="3300984"/>
            <a:ext cx="201168" cy="201168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4869179" y="3511296"/>
            <a:ext cx="0" cy="301752"/>
          </a:xfrm>
          <a:prstGeom prst="line">
            <a:avLst/>
          </a:prstGeom>
          <a:ln w="12700">
            <a:solidFill>
              <a:srgbClr val="CFC8EC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3794759" y="3904488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50" b="1" i="0">
                <a:solidFill>
                  <a:srgbClr val="DC2626"/>
                </a:solidFill>
                <a:latin typeface="Inter"/>
              </a:rPr>
              <a:t>Sept.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59" y="4270248"/>
            <a:ext cx="214884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 i="0">
                <a:solidFill>
                  <a:srgbClr val="1B1B3A"/>
                </a:solidFill>
                <a:latin typeface="Inter"/>
              </a:rPr>
              <a:t>Périmètre réduit à 4 équipes pilotes, ~60 personnes</a:t>
            </a:r>
          </a:p>
        </p:txBody>
      </p:sp>
      <p:sp>
        <p:nvSpPr>
          <p:cNvPr id="21" name="Oval 20"/>
          <p:cNvSpPr/>
          <p:nvPr/>
        </p:nvSpPr>
        <p:spPr>
          <a:xfrm>
            <a:off x="5980176" y="3300984"/>
            <a:ext cx="201168" cy="201168"/>
          </a:xfrm>
          <a:prstGeom prst="ellipse">
            <a:avLst/>
          </a:prstGeom>
          <a:solidFill>
            <a:srgbClr val="6733FC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6080760" y="2990088"/>
            <a:ext cx="0" cy="301752"/>
          </a:xfrm>
          <a:prstGeom prst="line">
            <a:avLst/>
          </a:prstGeom>
          <a:ln w="12700">
            <a:solidFill>
              <a:srgbClr val="CFC8EC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5006340" y="2532888"/>
            <a:ext cx="214884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50" b="1" i="0">
                <a:solidFill>
                  <a:srgbClr val="6733FC"/>
                </a:solidFill>
                <a:latin typeface="Inter"/>
              </a:rPr>
              <a:t>Nov.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6340" y="886968"/>
            <a:ext cx="2148840" cy="16459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50" b="0" i="0">
                <a:solidFill>
                  <a:srgbClr val="1B1B3A"/>
                </a:solidFill>
                <a:latin typeface="Inter"/>
              </a:rPr>
              <a:t>Audit sur site et construction du référentiel</a:t>
            </a:r>
          </a:p>
        </p:txBody>
      </p:sp>
      <p:sp>
        <p:nvSpPr>
          <p:cNvPr id="25" name="Oval 24"/>
          <p:cNvSpPr/>
          <p:nvPr/>
        </p:nvSpPr>
        <p:spPr>
          <a:xfrm>
            <a:off x="7191755" y="3300984"/>
            <a:ext cx="201168" cy="201168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7292340" y="3511296"/>
            <a:ext cx="0" cy="301752"/>
          </a:xfrm>
          <a:prstGeom prst="line">
            <a:avLst/>
          </a:prstGeom>
          <a:ln w="12700">
            <a:solidFill>
              <a:srgbClr val="CFC8EC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217920" y="3904488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50" b="1" i="0">
                <a:solidFill>
                  <a:srgbClr val="DC2626"/>
                </a:solidFill>
                <a:latin typeface="Inter"/>
              </a:rPr>
              <a:t>Déc.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270248"/>
            <a:ext cx="214884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 i="0">
                <a:solidFill>
                  <a:srgbClr val="1B1B3A"/>
                </a:solidFill>
                <a:latin typeface="Inter"/>
              </a:rPr>
              <a:t>Séances annulées, plus rien de créé après la visite</a:t>
            </a:r>
          </a:p>
        </p:txBody>
      </p:sp>
      <p:sp>
        <p:nvSpPr>
          <p:cNvPr id="29" name="Oval 28"/>
          <p:cNvSpPr/>
          <p:nvPr/>
        </p:nvSpPr>
        <p:spPr>
          <a:xfrm>
            <a:off x="8403336" y="3300984"/>
            <a:ext cx="201168" cy="201168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8503919" y="2990088"/>
            <a:ext cx="0" cy="301752"/>
          </a:xfrm>
          <a:prstGeom prst="line">
            <a:avLst/>
          </a:prstGeom>
          <a:ln w="12700">
            <a:solidFill>
              <a:srgbClr val="CFC8EC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429499" y="2532888"/>
            <a:ext cx="214884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50" b="1" i="0">
                <a:solidFill>
                  <a:srgbClr val="DC2626"/>
                </a:solidFill>
                <a:latin typeface="Inter"/>
              </a:rPr>
              <a:t>Janv.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9499" y="886968"/>
            <a:ext cx="2148840" cy="16459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50" b="0" i="0">
                <a:solidFill>
                  <a:srgbClr val="1B1B3A"/>
                </a:solidFill>
                <a:latin typeface="Inter"/>
              </a:rPr>
              <a:t>Bilan du pilote : la formation passe en priorité 2</a:t>
            </a:r>
          </a:p>
        </p:txBody>
      </p:sp>
      <p:sp>
        <p:nvSpPr>
          <p:cNvPr id="33" name="Oval 32"/>
          <p:cNvSpPr/>
          <p:nvPr/>
        </p:nvSpPr>
        <p:spPr>
          <a:xfrm>
            <a:off x="9614916" y="3300984"/>
            <a:ext cx="201168" cy="201168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9715500" y="3511296"/>
            <a:ext cx="0" cy="301752"/>
          </a:xfrm>
          <a:prstGeom prst="line">
            <a:avLst/>
          </a:prstGeom>
          <a:ln w="12700">
            <a:solidFill>
              <a:srgbClr val="CFC8EC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641080" y="3904488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50" b="1" i="0">
                <a:solidFill>
                  <a:srgbClr val="DC2626"/>
                </a:solidFill>
                <a:latin typeface="Inter"/>
              </a:rPr>
              <a:t>Fév.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4270248"/>
            <a:ext cx="214884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50" b="0" i="0">
                <a:solidFill>
                  <a:srgbClr val="1B1B3A"/>
                </a:solidFill>
                <a:latin typeface="Inter"/>
              </a:rPr>
              <a:t>Le CODIR fait challenger le référentiel par un tiers ; déploiement en pause</a:t>
            </a:r>
          </a:p>
        </p:txBody>
      </p:sp>
      <p:sp>
        <p:nvSpPr>
          <p:cNvPr id="37" name="Oval 36"/>
          <p:cNvSpPr/>
          <p:nvPr/>
        </p:nvSpPr>
        <p:spPr>
          <a:xfrm>
            <a:off x="10826496" y="3300984"/>
            <a:ext cx="201168" cy="201168"/>
          </a:xfrm>
          <a:prstGeom prst="ellipse">
            <a:avLst/>
          </a:prstGeom>
          <a:solidFill>
            <a:srgbClr val="1B1B3A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10927080" y="2990088"/>
            <a:ext cx="0" cy="301752"/>
          </a:xfrm>
          <a:prstGeom prst="line">
            <a:avLst/>
          </a:prstGeom>
          <a:ln w="12700">
            <a:solidFill>
              <a:srgbClr val="CFC8EC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9677095" y="2532888"/>
            <a:ext cx="214884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50" b="1" i="0">
                <a:solidFill>
                  <a:srgbClr val="1B1B3A"/>
                </a:solidFill>
                <a:latin typeface="Inter"/>
              </a:rPr>
              <a:t>Oct.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7095" y="886968"/>
            <a:ext cx="2148840" cy="16459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50" b="0" i="0">
                <a:solidFill>
                  <a:srgbClr val="1B1B3A"/>
                </a:solidFill>
                <a:latin typeface="Inter"/>
              </a:rPr>
              <a:t>Porteur du projet parti, nouvelle DRH attendue : projet gelé jusqu'en mars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noFill/>
        </p:spPr>
        <p:txBody>
          <a:bodyPr wrap="square" anchor="t" lIns="27432">
            <a:spAutoFit/>
          </a:bodyPr>
          <a:lstStyle/>
          <a:p>
            <a:r>
              <a:rPr sz="1200" b="1" i="0">
                <a:solidFill>
                  <a:srgbClr val="6733FC"/>
                </a:solidFill>
                <a:latin typeface="Inter"/>
              </a:rPr>
              <a:t>→  </a:t>
            </a:r>
            <a:r>
              <a:rPr sz="1200" b="1" i="0">
                <a:solidFill>
                  <a:srgbClr val="1B1B3A"/>
                </a:solidFill>
                <a:latin typeface="Inter"/>
              </a:rPr>
              <a:t>Le projet avait perdu son élan avant même le pilote : 8 mois de décalage, un périmètre divisé par sept.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09728"/>
            <a:ext cx="9692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6733FC"/>
                </a:solidFill>
                <a:latin typeface="Inter"/>
              </a:rPr>
              <a:t>Le référentiel a été rempli, pas utilisé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66960" y="182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>
            <a:noFill/>
          </a:ln>
        </p:spPr>
        <p:txBody>
          <a:bodyPr rtlCol="0" anchor="ctr" lIns="36576" rIns="36576"/>
          <a:lstStyle/>
          <a:p>
            <a:pPr algn="ctr"/>
            <a:r>
              <a:rPr sz="1050" b="1" i="0">
                <a:solidFill>
                  <a:srgbClr val="6733FC"/>
                </a:solidFill>
                <a:latin typeface="Inter"/>
              </a:rPr>
              <a:t>2 · Analyse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868680"/>
          <a:ext cx="7589520" cy="4892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0" y="960120"/>
            <a:ext cx="3474719" cy="100584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1014984"/>
            <a:ext cx="3200399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  <a:latin typeface="Inter"/>
              </a:rPr>
              <a:t>11 / 125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490472"/>
            <a:ext cx="3200399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1B1B3A"/>
                </a:solidFill>
                <a:latin typeface="Inter"/>
              </a:rPr>
              <a:t>parcours de formation validés, aucun depuis décembre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103120"/>
            <a:ext cx="3474719" cy="100584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157984"/>
            <a:ext cx="3200399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6733FC"/>
                </a:solidFill>
                <a:latin typeface="Inter"/>
              </a:rPr>
              <a:t>1 h / sem.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633472"/>
            <a:ext cx="3200399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1B1B3A"/>
                </a:solidFill>
                <a:latin typeface="Inter"/>
              </a:rPr>
              <a:t>réellement tenue avec les coordinateurs, au lieu de 2 à 3 h prévues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246120"/>
            <a:ext cx="3474719" cy="100584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300984"/>
            <a:ext cx="3200399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6733FC"/>
                </a:solidFill>
                <a:latin typeface="Inter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776472"/>
            <a:ext cx="3200399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1B1B3A"/>
                </a:solidFill>
                <a:latin typeface="Inter"/>
              </a:rPr>
              <a:t>évaluation dans la routine prévue (une personne toutes les deux semaines)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389120"/>
            <a:ext cx="3474719" cy="100584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4443983"/>
            <a:ext cx="3200399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6733FC"/>
                </a:solidFill>
                <a:latin typeface="Inter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919472"/>
            <a:ext cx="3200399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1B1B3A"/>
                </a:solidFill>
                <a:latin typeface="Inter"/>
              </a:rPr>
              <a:t>compte individuel pour les opérateurs : l'outil leur reste invisible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79592"/>
            <a:ext cx="457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6733FC"/>
                </a:solidFill>
                <a:latin typeface="Inter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89320"/>
            <a:ext cx="10789920" cy="685800"/>
          </a:xfrm>
          <a:prstGeom prst="rect">
            <a:avLst/>
          </a:prstGeom>
          <a:noFill/>
        </p:spPr>
        <p:txBody>
          <a:bodyPr wrap="square" anchor="t" lIns="27432" rIns="27432">
            <a:spAutoFit/>
          </a:bodyPr>
          <a:lstStyle/>
          <a:p>
            <a:r>
              <a:rPr sz="1100" b="0" i="1">
                <a:solidFill>
                  <a:srgbClr val="1B1B3A"/>
                </a:solidFill>
                <a:latin typeface="Inter"/>
              </a:rPr>
              <a:t>On a beaucoup rempli l'outil pendant les trois mois de pilote, mais on ne l'a pas forcément utilisé.</a:t>
            </a:r>
            <a:r>
              <a:rPr sz="950" b="0" i="0">
                <a:solidFill>
                  <a:srgbClr val="6B6B80"/>
                </a:solidFill>
                <a:latin typeface="Inter"/>
              </a:rPr>
              <a:t>  — Équipe projet Chatelain, janv.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09728"/>
            <a:ext cx="9692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6733FC"/>
                </a:solidFill>
                <a:latin typeface="Inter"/>
              </a:rPr>
              <a:t>Ce que nous avons entendu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66960" y="182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>
            <a:noFill/>
          </a:ln>
        </p:spPr>
        <p:txBody>
          <a:bodyPr rtlCol="0" anchor="ctr" lIns="36576" rIns="36576"/>
          <a:lstStyle/>
          <a:p>
            <a:pPr algn="ctr"/>
            <a:r>
              <a:rPr sz="1050" b="1" i="0">
                <a:solidFill>
                  <a:srgbClr val="6733FC"/>
                </a:solidFill>
                <a:latin typeface="Inter"/>
              </a:rPr>
              <a:t>2 · Analyse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3596640" cy="230886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32688"/>
            <a:ext cx="548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6733FC"/>
                </a:solidFill>
                <a:latin typeface="Inter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2773680" cy="17145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1">
                <a:solidFill>
                  <a:srgbClr val="1B1B3A"/>
                </a:solidFill>
                <a:latin typeface="Inter"/>
              </a:rPr>
              <a:t>C'est sympa l'outil, mais… ça ne change pas la vie.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11779"/>
            <a:ext cx="2773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5E4DA4"/>
                </a:solidFill>
                <a:latin typeface="Inter"/>
              </a:rPr>
              <a:t>Retour terrain rapporté par les RH, nov.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2440" y="914400"/>
            <a:ext cx="3596640" cy="230886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9600" y="932688"/>
            <a:ext cx="548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6733FC"/>
                </a:solidFill>
                <a:latin typeface="Inter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2520" y="1097280"/>
            <a:ext cx="2773680" cy="17145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1">
                <a:solidFill>
                  <a:srgbClr val="1B1B3A"/>
                </a:solidFill>
                <a:latin typeface="Inter"/>
              </a:rPr>
              <a:t>Je sais très bien qu'ils vont l'utiliser que pendant les ateliers d'une heure qu'on fait.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2520" y="2811779"/>
            <a:ext cx="2773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5E4DA4"/>
                </a:solidFill>
                <a:latin typeface="Inter"/>
              </a:rPr>
              <a:t>Équipe projet Chatelain, déc.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680" y="914400"/>
            <a:ext cx="3596640" cy="230886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4840" y="932688"/>
            <a:ext cx="548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6733FC"/>
                </a:solidFill>
                <a:latin typeface="Inter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7760" y="1097280"/>
            <a:ext cx="2773680" cy="17145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1">
                <a:solidFill>
                  <a:srgbClr val="1B1B3A"/>
                </a:solidFill>
                <a:latin typeface="Inter"/>
              </a:rPr>
              <a:t>Si on déploie dans l'axe d'engagement du pilote, c'est un échec cuisant annoncé.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47760" y="2811779"/>
            <a:ext cx="2773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5E4DA4"/>
                </a:solidFill>
                <a:latin typeface="Inter"/>
              </a:rPr>
              <a:t>Direction, bilan du pilote, janv.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51860"/>
            <a:ext cx="3596640" cy="230886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70148"/>
            <a:ext cx="548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6733FC"/>
                </a:solidFill>
                <a:latin typeface="Inter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34740"/>
            <a:ext cx="2773680" cy="17145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1">
                <a:solidFill>
                  <a:srgbClr val="1B1B3A"/>
                </a:solidFill>
                <a:latin typeface="Inter"/>
              </a:rPr>
              <a:t>On avait voulu mettre la charrue avant les bœufs : utiliser un logiciel pour piloter quelque chose qu'on n'avait pas.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2773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5E4DA4"/>
                </a:solidFill>
                <a:latin typeface="Inter"/>
              </a:rPr>
              <a:t>Équipe projet Chatelain, sept.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40" y="3451860"/>
            <a:ext cx="3596640" cy="230886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9600" y="3470148"/>
            <a:ext cx="548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6733FC"/>
                </a:solidFill>
                <a:latin typeface="Inter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2520" y="3634740"/>
            <a:ext cx="2773680" cy="17145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1">
                <a:solidFill>
                  <a:srgbClr val="1B1B3A"/>
                </a:solidFill>
                <a:latin typeface="Inter"/>
              </a:rPr>
              <a:t>Pour nous, le pilote n'était pas vraiment concluant, alors que pour Mercateam, c'était go.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2520" y="5349240"/>
            <a:ext cx="2773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5E4DA4"/>
                </a:solidFill>
                <a:latin typeface="Inter"/>
              </a:rPr>
              <a:t>Équipe projet Chatelain, sept.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7680" y="3451860"/>
            <a:ext cx="3596640" cy="2308860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4840" y="3470148"/>
            <a:ext cx="5486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6733FC"/>
                </a:solidFill>
                <a:latin typeface="Inter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7760" y="3634740"/>
            <a:ext cx="2773680" cy="17145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1">
                <a:solidFill>
                  <a:srgbClr val="1B1B3A"/>
                </a:solidFill>
                <a:latin typeface="Inter"/>
              </a:rPr>
              <a:t>Afficher 850 compétences couvertes… la valeur ajoutée, la qualité, la pertinence, elle n'était pas présente.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7760" y="5349240"/>
            <a:ext cx="27736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 i="0">
                <a:solidFill>
                  <a:srgbClr val="5E4DA4"/>
                </a:solidFill>
                <a:latin typeface="Inter"/>
              </a:rPr>
              <a:t>Direction des opérations, oct.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09728"/>
            <a:ext cx="9692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6733FC"/>
                </a:solidFill>
                <a:latin typeface="Inter"/>
              </a:rPr>
              <a:t>Nos cinq causes racines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66960" y="182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>
            <a:noFill/>
          </a:ln>
        </p:spPr>
        <p:txBody>
          <a:bodyPr rtlCol="0" anchor="ctr" lIns="36576" rIns="36576"/>
          <a:lstStyle/>
          <a:p>
            <a:pPr algn="ctr"/>
            <a:r>
              <a:rPr sz="1050" b="1" i="0">
                <a:solidFill>
                  <a:srgbClr val="6733FC"/>
                </a:solidFill>
                <a:latin typeface="Inter"/>
              </a:rPr>
              <a:t>2 · Analyse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2066544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09728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79222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1B3A"/>
                </a:solidFill>
                <a:latin typeface="Inter"/>
              </a:rPr>
              <a:t>On a digitalisé avant de standardiser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468880"/>
            <a:ext cx="1737360" cy="320039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Pas de définition commune de la compétence</a:t>
            </a:r>
          </a:p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Niveaux non décrits, découpage différent dans chaque atelier</a:t>
            </a:r>
          </a:p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L'outil devait piloter un processus qui n'existait pas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2344" y="914400"/>
            <a:ext cx="2066544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35224" y="109728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9504" y="1572768"/>
            <a:ext cx="179222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1B3A"/>
                </a:solidFill>
                <a:latin typeface="Inter"/>
              </a:rPr>
              <a:t>Pas de valeur visible pour le terrain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936" y="2468880"/>
            <a:ext cx="1737360" cy="320039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Les coordinateurs connaissent déjà leurs équipes</a:t>
            </a:r>
          </a:p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Ni planning ni contrainte réglementaire pour créer un usage quotidien</a:t>
            </a:r>
          </a:p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Opérateurs sans accès à l'outil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8" y="914400"/>
            <a:ext cx="2066544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30368" y="109728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572768"/>
            <a:ext cx="179222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1B3A"/>
                </a:solidFill>
                <a:latin typeface="Inter"/>
              </a:rPr>
              <a:t>Ni temps, ni priorité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468880"/>
            <a:ext cx="1737360" cy="320039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Coordinateurs opérateurs ~70 % de leur temps</a:t>
            </a:r>
          </a:p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La production et les lancements passent avant</a:t>
            </a:r>
          </a:p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Projets concurrents : MES, Tulip, réorganisation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2632" y="914400"/>
            <a:ext cx="2066544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25512" y="109728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1572768"/>
            <a:ext cx="179222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1B3A"/>
                </a:solidFill>
                <a:latin typeface="Inter"/>
              </a:rPr>
              <a:t>Un portage RH, une production en retrait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4" y="2468880"/>
            <a:ext cx="1737360" cy="320039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Projet descendant : direction → RH → production</a:t>
            </a:r>
          </a:p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Responsables d'UAP peu associés aux objectifs</a:t>
            </a:r>
          </a:p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Sponsor changeant, puis départ du porteur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37776" y="914400"/>
            <a:ext cx="2066544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20656" y="109728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1572768"/>
            <a:ext cx="179222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B1B3A"/>
                </a:solidFill>
                <a:latin typeface="Inter"/>
              </a:rPr>
              <a:t>Un pilote court, mesuré au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2468880"/>
            <a:ext cx="1737360" cy="320039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~10 semaines dont 2 de fermeture</a:t>
            </a:r>
          </a:p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Pas d'état zéro ni d'indicateur cible</a:t>
            </a:r>
          </a:p>
          <a:p>
            <a:pPr marL="146304" indent="-146304">
              <a:spcBef>
                <a:spcPts val="1200"/>
              </a:spcBef>
              <a:buClr>
                <a:srgbClr val="6733FC"/>
              </a:buClr>
              <a:buFont typeface="Arial"/>
              <a:buChar char="•"/>
            </a:pPr>
            <a:r>
              <a:rPr sz="1300" b="0" i="0">
                <a:solidFill>
                  <a:srgbClr val="1B1B3A"/>
                </a:solidFill>
                <a:latin typeface="Inter"/>
              </a:rPr>
              <a:t>Désaccords non exprimés au COPIL de fin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noFill/>
        </p:spPr>
        <p:txBody>
          <a:bodyPr wrap="square" anchor="t" lIns="27432">
            <a:spAutoFit/>
          </a:bodyPr>
          <a:lstStyle/>
          <a:p>
            <a:r>
              <a:rPr sz="1200" b="1" i="0">
                <a:solidFill>
                  <a:srgbClr val="6733FC"/>
                </a:solidFill>
                <a:latin typeface="Inter"/>
              </a:rPr>
              <a:t>→  </a:t>
            </a:r>
            <a:r>
              <a:rPr sz="1200" b="1" i="0">
                <a:solidFill>
                  <a:srgbClr val="1B1B3A"/>
                </a:solidFill>
                <a:latin typeface="Inter"/>
              </a:rPr>
              <a:t>Ces causes s'enchaînent : sans standard, pas de valeur ; sans valeur, pas de temps ; sans temps, pas d'usage.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09728"/>
            <a:ext cx="9692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6733FC"/>
                </a:solidFill>
                <a:latin typeface="Inter"/>
              </a:rPr>
              <a:t>Notre part de responsabilité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66960" y="182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>
            <a:noFill/>
          </a:ln>
        </p:spPr>
        <p:txBody>
          <a:bodyPr rtlCol="0" anchor="ctr" lIns="36576" rIns="36576"/>
          <a:lstStyle/>
          <a:p>
            <a:pPr algn="ctr"/>
            <a:r>
              <a:rPr sz="1050" b="1" i="0">
                <a:solidFill>
                  <a:srgbClr val="6733FC"/>
                </a:solidFill>
                <a:latin typeface="Inter"/>
              </a:rPr>
              <a:t>2 · Analyse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5509260" cy="2308860"/>
          </a:xfrm>
          <a:prstGeom prst="roundRect">
            <a:avLst>
              <a:gd name="adj" fmla="val 6000"/>
            </a:avLst>
          </a:prstGeom>
          <a:solidFill>
            <a:srgbClr val="F1ECFF"/>
          </a:solidFill>
          <a:ln w="12700">
            <a:solidFill>
              <a:srgbClr val="6733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09728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042416"/>
            <a:ext cx="4741164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1B3A"/>
                </a:solidFill>
                <a:latin typeface="Inter"/>
              </a:rPr>
              <a:t>Nous avons privilégié le volume à la méthode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691640"/>
            <a:ext cx="5180076" cy="144017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500" b="0" i="0">
                <a:solidFill>
                  <a:srgbClr val="1B1B3A"/>
                </a:solidFill>
                <a:latin typeface="Inter"/>
              </a:rPr>
              <a:t>839 compétences attribuées en quelques semaines</a:t>
            </a:r>
          </a:p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500" b="0" i="0">
                <a:solidFill>
                  <a:srgbClr val="1B1B3A"/>
                </a:solidFill>
                <a:latin typeface="Inter"/>
              </a:rPr>
              <a:t>Sans avoir posé de définitions ni de niveaux communs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914400"/>
            <a:ext cx="5509260" cy="2308860"/>
          </a:xfrm>
          <a:prstGeom prst="roundRect">
            <a:avLst>
              <a:gd name="adj" fmla="val 6000"/>
            </a:avLst>
          </a:prstGeom>
          <a:solidFill>
            <a:srgbClr val="F1ECFF"/>
          </a:solidFill>
          <a:ln w="12700">
            <a:solidFill>
              <a:srgbClr val="6733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77940" y="109728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3428" y="1042416"/>
            <a:ext cx="4741164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1B3A"/>
                </a:solidFill>
                <a:latin typeface="Inter"/>
              </a:rPr>
              <a:t>Nous avons sous-estimé le travail de structuration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9652" y="1691640"/>
            <a:ext cx="5180076" cy="144017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500" b="0" i="0">
                <a:solidFill>
                  <a:srgbClr val="1B1B3A"/>
                </a:solidFill>
                <a:latin typeface="Inter"/>
              </a:rPr>
              <a:t>Le chantier était méthodologique avant d'être digital</a:t>
            </a:r>
          </a:p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500" b="0" i="0">
                <a:solidFill>
                  <a:srgbClr val="1B1B3A"/>
                </a:solidFill>
                <a:latin typeface="Inter"/>
              </a:rPr>
              <a:t>Nous avons accepté un périmètre et une durée que nous savions trop courts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51860"/>
            <a:ext cx="5509260" cy="2308860"/>
          </a:xfrm>
          <a:prstGeom prst="roundRect">
            <a:avLst>
              <a:gd name="adj" fmla="val 6000"/>
            </a:avLst>
          </a:prstGeom>
          <a:solidFill>
            <a:srgbClr val="F1ECFF"/>
          </a:solidFill>
          <a:ln w="12700">
            <a:solidFill>
              <a:srgbClr val="6733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363474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579876"/>
            <a:ext cx="4741164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1B3A"/>
                </a:solidFill>
                <a:latin typeface="Inter"/>
              </a:rPr>
              <a:t>Nous sommes restés dans un rôle d'éditeur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229100"/>
            <a:ext cx="5180076" cy="144017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500" b="0" i="0">
                <a:solidFill>
                  <a:srgbClr val="1B1B3A"/>
                </a:solidFill>
                <a:latin typeface="Inter"/>
              </a:rPr>
              <a:t>Vous attendiez un cadrage de méthode, nous avons déployé un outil</a:t>
            </a:r>
          </a:p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500" b="0" i="0">
                <a:solidFill>
                  <a:srgbClr val="1B1B3A"/>
                </a:solidFill>
                <a:latin typeface="Inter"/>
              </a:rPr>
              <a:t>D'où le recours à un tiers pour challenger le référentiel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5060" y="3451860"/>
            <a:ext cx="5509260" cy="2308860"/>
          </a:xfrm>
          <a:prstGeom prst="roundRect">
            <a:avLst>
              <a:gd name="adj" fmla="val 6000"/>
            </a:avLst>
          </a:prstGeom>
          <a:solidFill>
            <a:srgbClr val="F1ECFF"/>
          </a:solidFill>
          <a:ln w="12700">
            <a:solidFill>
              <a:srgbClr val="6733F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7940" y="363474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3428" y="3579876"/>
            <a:ext cx="4741164" cy="5120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1B3A"/>
                </a:solidFill>
                <a:latin typeface="Inter"/>
              </a:rPr>
              <a:t>Nous n'avons pas fait émerger le désalignement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9652" y="4229100"/>
            <a:ext cx="5180076" cy="144017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500" b="0" i="0">
                <a:solidFill>
                  <a:srgbClr val="1B1B3A"/>
                </a:solidFill>
                <a:latin typeface="Inter"/>
              </a:rPr>
              <a:t>Bilan présenté comme atteint, sans indicateur de valeur</a:t>
            </a:r>
          </a:p>
          <a:p>
            <a:pPr marL="146304" indent="-146304">
              <a:spcBef>
                <a:spcPts val="1400"/>
              </a:spcBef>
              <a:buClr>
                <a:srgbClr val="6733FC"/>
              </a:buClr>
              <a:buFont typeface="Arial"/>
              <a:buChar char="•"/>
            </a:pPr>
            <a:r>
              <a:rPr sz="1500" b="0" i="0">
                <a:solidFill>
                  <a:srgbClr val="1B1B3A"/>
                </a:solidFill>
                <a:latin typeface="Inter"/>
              </a:rPr>
              <a:t>Des doutes exprimés après coup plutôt qu'au COPIL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noFill/>
        </p:spPr>
        <p:txBody>
          <a:bodyPr wrap="square" anchor="t" lIns="27432">
            <a:spAutoFit/>
          </a:bodyPr>
          <a:lstStyle/>
          <a:p>
            <a:r>
              <a:rPr sz="1200" b="1" i="0">
                <a:solidFill>
                  <a:srgbClr val="6733FC"/>
                </a:solidFill>
                <a:latin typeface="Inter"/>
              </a:rPr>
              <a:t>→  </a:t>
            </a:r>
            <a:r>
              <a:rPr sz="1200" b="1" i="0">
                <a:solidFill>
                  <a:srgbClr val="1B1B3A"/>
                </a:solidFill>
                <a:latin typeface="Inter"/>
              </a:rPr>
              <a:t>Ces erreurs sont les nôtres : elles guident la façon dont nous voulons reprendre le sujet avec vous.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09728"/>
            <a:ext cx="96926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6733FC"/>
                </a:solidFill>
                <a:latin typeface="Inter"/>
              </a:rPr>
              <a:t>Ce que nous en retenons pour la suite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66960" y="18288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F1ECFF"/>
          </a:solidFill>
          <a:ln>
            <a:noFill/>
          </a:ln>
        </p:spPr>
        <p:txBody>
          <a:bodyPr rtlCol="0" anchor="ctr" lIns="36576" rIns="36576"/>
          <a:lstStyle/>
          <a:p>
            <a:pPr algn="ctr"/>
            <a:r>
              <a:rPr sz="1050" b="1" i="0">
                <a:solidFill>
                  <a:srgbClr val="6733FC"/>
                </a:solidFill>
                <a:latin typeface="Inter"/>
              </a:rPr>
              <a:t>2 · Analyse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2066544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09728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179222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B1B3A"/>
                </a:solidFill>
                <a:latin typeface="Inter"/>
              </a:rPr>
              <a:t>Commencer par la méthode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468880"/>
            <a:ext cx="1737360" cy="320039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600"/>
              </a:spcBef>
              <a:buClr>
                <a:srgbClr val="6733FC"/>
              </a:buClr>
              <a:buFont typeface="Arial"/>
              <a:buChar char="•"/>
            </a:pPr>
            <a:r>
              <a:rPr sz="1450" b="0" i="0">
                <a:solidFill>
                  <a:srgbClr val="1B1B3A"/>
                </a:solidFill>
                <a:latin typeface="Inter"/>
              </a:rPr>
              <a:t>Définir ensemble la compétence et ses niveaux</a:t>
            </a:r>
          </a:p>
          <a:p>
            <a:pPr marL="146304" indent="-146304">
              <a:spcBef>
                <a:spcPts val="1600"/>
              </a:spcBef>
              <a:buClr>
                <a:srgbClr val="6733FC"/>
              </a:buClr>
              <a:buFont typeface="Arial"/>
              <a:buChar char="•"/>
            </a:pPr>
            <a:r>
              <a:rPr sz="1450" b="0" i="0">
                <a:solidFill>
                  <a:srgbClr val="1B1B3A"/>
                </a:solidFill>
                <a:latin typeface="Inter"/>
              </a:rPr>
              <a:t>Un découpage standard pour tout le site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2344" y="914400"/>
            <a:ext cx="2066544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35224" y="109728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9504" y="1572768"/>
            <a:ext cx="179222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B1B3A"/>
                </a:solidFill>
                <a:latin typeface="Inter"/>
              </a:rPr>
              <a:t>Partir d'un usage terrain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6936" y="2468880"/>
            <a:ext cx="1737360" cy="320039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600"/>
              </a:spcBef>
              <a:buClr>
                <a:srgbClr val="6733FC"/>
              </a:buClr>
              <a:buFont typeface="Arial"/>
              <a:buChar char="•"/>
            </a:pPr>
            <a:r>
              <a:rPr sz="1450" b="0" i="0">
                <a:solidFill>
                  <a:srgbClr val="1B1B3A"/>
                </a:solidFill>
                <a:latin typeface="Inter"/>
              </a:rPr>
              <a:t>Transmission des savoir-faire critiques</a:t>
            </a:r>
          </a:p>
          <a:p>
            <a:pPr marL="146304" indent="-146304">
              <a:spcBef>
                <a:spcPts val="1600"/>
              </a:spcBef>
              <a:buClr>
                <a:srgbClr val="6733FC"/>
              </a:buClr>
              <a:buFont typeface="Arial"/>
              <a:buChar char="•"/>
            </a:pPr>
            <a:r>
              <a:rPr sz="1450" b="0" i="0">
                <a:solidFill>
                  <a:srgbClr val="1B1B3A"/>
                </a:solidFill>
                <a:latin typeface="Inter"/>
              </a:rPr>
              <a:t>Mobilité entre ateliers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8" y="914400"/>
            <a:ext cx="2066544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30368" y="109728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572768"/>
            <a:ext cx="179222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B1B3A"/>
                </a:solidFill>
                <a:latin typeface="Inter"/>
              </a:rPr>
              <a:t>Une gouvernance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468880"/>
            <a:ext cx="1737360" cy="320039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600"/>
              </a:spcBef>
              <a:buClr>
                <a:srgbClr val="6733FC"/>
              </a:buClr>
              <a:buFont typeface="Arial"/>
              <a:buChar char="•"/>
            </a:pPr>
            <a:r>
              <a:rPr sz="1450" b="0" i="0">
                <a:solidFill>
                  <a:srgbClr val="1B1B3A"/>
                </a:solidFill>
                <a:latin typeface="Inter"/>
              </a:rPr>
              <a:t>Responsables d'UAP propriétaires du référentiel</a:t>
            </a:r>
          </a:p>
          <a:p>
            <a:pPr marL="146304" indent="-146304">
              <a:spcBef>
                <a:spcPts val="1600"/>
              </a:spcBef>
              <a:buClr>
                <a:srgbClr val="6733FC"/>
              </a:buClr>
              <a:buFont typeface="Arial"/>
              <a:buChar char="•"/>
            </a:pPr>
            <a:r>
              <a:rPr sz="1450" b="0" i="0">
                <a:solidFill>
                  <a:srgbClr val="1B1B3A"/>
                </a:solidFill>
                <a:latin typeface="Inter"/>
              </a:rPr>
              <a:t>Du temps protégé pour les coordinateurs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2632" y="914400"/>
            <a:ext cx="2066544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25512" y="109728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1572768"/>
            <a:ext cx="179222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B1B3A"/>
                </a:solidFill>
                <a:latin typeface="Inter"/>
              </a:rPr>
              <a:t>Mesurer avant de déployer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4" y="2468880"/>
            <a:ext cx="1737360" cy="320039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600"/>
              </a:spcBef>
              <a:buClr>
                <a:srgbClr val="6733FC"/>
              </a:buClr>
              <a:buFont typeface="Arial"/>
              <a:buChar char="•"/>
            </a:pPr>
            <a:r>
              <a:rPr sz="1450" b="0" i="0">
                <a:solidFill>
                  <a:srgbClr val="1B1B3A"/>
                </a:solidFill>
                <a:latin typeface="Inter"/>
              </a:rPr>
              <a:t>Un état zéro et des indicateurs cibles</a:t>
            </a:r>
          </a:p>
          <a:p>
            <a:pPr marL="146304" indent="-146304">
              <a:spcBef>
                <a:spcPts val="1600"/>
              </a:spcBef>
              <a:buClr>
                <a:srgbClr val="6733FC"/>
              </a:buClr>
              <a:buFont typeface="Arial"/>
              <a:buChar char="•"/>
            </a:pPr>
            <a:r>
              <a:rPr sz="1450" b="0" i="0">
                <a:solidFill>
                  <a:srgbClr val="1B1B3A"/>
                </a:solidFill>
                <a:latin typeface="Inter"/>
              </a:rPr>
              <a:t>Un bilan partagé, désaccords compris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37776" y="914400"/>
            <a:ext cx="2066544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C8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20656" y="1097280"/>
            <a:ext cx="384048" cy="384048"/>
          </a:xfrm>
          <a:prstGeom prst="ellipse">
            <a:avLst/>
          </a:prstGeom>
          <a:solidFill>
            <a:srgbClr val="6733F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1572768"/>
            <a:ext cx="1792224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B1B3A"/>
                </a:solidFill>
                <a:latin typeface="Inter"/>
              </a:rPr>
              <a:t>Capitaliser sur l'existant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2468880"/>
            <a:ext cx="1737360" cy="3200399"/>
          </a:xfrm>
          <a:prstGeom prst="rect">
            <a:avLst/>
          </a:prstGeom>
          <a:noFill/>
        </p:spPr>
        <p:txBody>
          <a:bodyPr wrap="square" anchor="t" lIns="27432" rIns="27432" tIns="0">
            <a:spAutoFit/>
          </a:bodyPr>
          <a:lstStyle/>
          <a:p>
            <a:pPr marL="146304" indent="-146304">
              <a:spcBef>
                <a:spcPts val="1600"/>
              </a:spcBef>
              <a:buClr>
                <a:srgbClr val="6733FC"/>
              </a:buClr>
              <a:buFont typeface="Arial"/>
              <a:buChar char="•"/>
            </a:pPr>
            <a:r>
              <a:rPr sz="1450" b="0" i="0">
                <a:solidFill>
                  <a:srgbClr val="1B1B3A"/>
                </a:solidFill>
                <a:latin typeface="Inter"/>
              </a:rPr>
              <a:t>135 compétences et 57 contenus comme matière première</a:t>
            </a:r>
          </a:p>
          <a:p>
            <a:pPr marL="146304" indent="-146304">
              <a:spcBef>
                <a:spcPts val="1600"/>
              </a:spcBef>
              <a:buClr>
                <a:srgbClr val="6733FC"/>
              </a:buClr>
              <a:buFont typeface="Arial"/>
              <a:buChar char="•"/>
            </a:pPr>
            <a:r>
              <a:rPr sz="1450" b="0" i="0">
                <a:solidFill>
                  <a:srgbClr val="1B1B3A"/>
                </a:solidFill>
                <a:latin typeface="Inter"/>
              </a:rPr>
              <a:t>Plutôt que repartir de zéro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47120" cy="685800"/>
          </a:xfrm>
          <a:prstGeom prst="rect">
            <a:avLst/>
          </a:prstGeom>
          <a:noFill/>
        </p:spPr>
        <p:txBody>
          <a:bodyPr wrap="square" anchor="t" lIns="27432">
            <a:spAutoFit/>
          </a:bodyPr>
          <a:lstStyle/>
          <a:p>
            <a:r>
              <a:rPr sz="1200" b="1" i="0">
                <a:solidFill>
                  <a:srgbClr val="6733FC"/>
                </a:solidFill>
                <a:latin typeface="Inter"/>
              </a:rPr>
              <a:t>→  </a:t>
            </a:r>
            <a:r>
              <a:rPr sz="1200" b="1" i="0">
                <a:solidFill>
                  <a:srgbClr val="1B1B3A"/>
                </a:solidFill>
                <a:latin typeface="Inter"/>
              </a:rPr>
              <a:t>Prochaine fenêtre : mars 2027, avec la nouvelle DRH et le chantier CODIR « savoir-faire critique et engagement du terrain 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Burea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